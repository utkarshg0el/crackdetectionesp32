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67" r:id="rId15"/>
  </p:sldIdLst>
  <p:sldSz cx="9144000" cy="5143500" type="screen16x9"/>
  <p:notesSz cx="5143500" cy="9144000"/>
  <p:embeddedFontLst>
    <p:embeddedFont>
      <p:font typeface="Aptos Narrow" panose="020B0004020202020204" pitchFamily="34" charset="0"/>
      <p:regular r:id="rId17"/>
      <p:bold r:id="rId18"/>
      <p:italic r:id="rId19"/>
      <p:boldItalic r:id="rId20"/>
    </p:embeddedFont>
    <p:embeddedFont>
      <p:font typeface="Arial Rounded MT Bold" panose="020F0704030504030204" pitchFamily="34" charset="0"/>
      <p:regular r:id="rId21"/>
    </p:embeddedFont>
    <p:embeddedFont>
      <p:font typeface="Host Grotesk Medium" panose="020B0604020202020204" charset="0"/>
      <p:regular r:id="rId22"/>
    </p:embeddedFont>
    <p:embeddedFont>
      <p:font typeface="Roboto" panose="02000000000000000000" pitchFamily="2" charset="0"/>
      <p:regular r:id="rId23"/>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200" d="100"/>
          <a:sy n="200" d="100"/>
        </p:scale>
        <p:origin x="161" y="1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781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12D09-ED4B-849E-8C3A-457B1D029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BBE61C-2E13-2529-1DC1-965C99724E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EBF051-1CA5-601F-80F2-041F22B528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A49042-F3C6-E121-A110-492224E9AD66}"/>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01211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88814-A4C0-E08D-1D75-1CE9CB24B5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0DAA3-D9AB-F843-EA39-538DEC3D2B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36F6E6-40B4-8AA8-F07A-8CFE374D93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26AC46-A5D7-AB1F-3B43-F5895CC44CCF}"/>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8051639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EFFA8-56F9-6BFA-92FF-DC4624F525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21B94D-868E-93E0-8646-B343A4E534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643B84-D768-EC09-A208-53065D967C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4EB3EF-5FA1-57C3-9D1B-FE0A543DA46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8474834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C7E0E7"/>
          </a:solidFill>
          <a:ln/>
        </p:spPr>
      </p:sp>
      <p:sp>
        <p:nvSpPr>
          <p:cNvPr id="3" name="Shape 1"/>
          <p:cNvSpPr/>
          <p:nvPr/>
        </p:nvSpPr>
        <p:spPr>
          <a:xfrm>
            <a:off x="0" y="0"/>
            <a:ext cx="9144000" cy="5143500"/>
          </a:xfrm>
          <a:prstGeom prst="rect">
            <a:avLst/>
          </a:prstGeom>
          <a:solidFill>
            <a:srgbClr val="FAF9F5"/>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C7E0E7"/>
          </a:solidFill>
          <a:ln/>
        </p:spPr>
      </p:sp>
      <p:sp>
        <p:nvSpPr>
          <p:cNvPr id="3" name="Shape 1"/>
          <p:cNvSpPr/>
          <p:nvPr/>
        </p:nvSpPr>
        <p:spPr>
          <a:xfrm>
            <a:off x="0" y="0"/>
            <a:ext cx="9144000" cy="5143500"/>
          </a:xfrm>
          <a:prstGeom prst="rect">
            <a:avLst/>
          </a:prstGeom>
          <a:solidFill>
            <a:srgbClr val="FAF9F5"/>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C7E0E7"/>
          </a:solidFill>
          <a:ln/>
        </p:spPr>
      </p:sp>
      <p:sp>
        <p:nvSpPr>
          <p:cNvPr id="3" name="Shape 1"/>
          <p:cNvSpPr/>
          <p:nvPr/>
        </p:nvSpPr>
        <p:spPr>
          <a:xfrm>
            <a:off x="0" y="-12192"/>
            <a:ext cx="9144000" cy="5143500"/>
          </a:xfrm>
          <a:prstGeom prst="rect">
            <a:avLst/>
          </a:prstGeom>
          <a:solidFill>
            <a:srgbClr val="FAF9F5"/>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C7E0E7"/>
          </a:solidFill>
          <a:ln/>
        </p:spPr>
      </p:sp>
      <p:sp>
        <p:nvSpPr>
          <p:cNvPr id="3" name="Shape 1"/>
          <p:cNvSpPr/>
          <p:nvPr/>
        </p:nvSpPr>
        <p:spPr>
          <a:xfrm>
            <a:off x="0" y="0"/>
            <a:ext cx="9144000" cy="5143500"/>
          </a:xfrm>
          <a:prstGeom prst="rect">
            <a:avLst/>
          </a:prstGeom>
          <a:solidFill>
            <a:srgbClr val="FAF9F5"/>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C7E0E7"/>
          </a:solidFill>
          <a:ln/>
        </p:spPr>
      </p:sp>
      <p:sp>
        <p:nvSpPr>
          <p:cNvPr id="3" name="Shape 1"/>
          <p:cNvSpPr/>
          <p:nvPr/>
        </p:nvSpPr>
        <p:spPr>
          <a:xfrm>
            <a:off x="0" y="0"/>
            <a:ext cx="9144000" cy="5143500"/>
          </a:xfrm>
          <a:prstGeom prst="rect">
            <a:avLst/>
          </a:prstGeom>
          <a:solidFill>
            <a:srgbClr val="FAF9F5"/>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C7E0E7"/>
          </a:solidFill>
          <a:ln/>
        </p:spPr>
      </p:sp>
      <p:sp>
        <p:nvSpPr>
          <p:cNvPr id="3" name="Shape 1"/>
          <p:cNvSpPr/>
          <p:nvPr/>
        </p:nvSpPr>
        <p:spPr>
          <a:xfrm>
            <a:off x="0" y="0"/>
            <a:ext cx="9144000" cy="5143500"/>
          </a:xfrm>
          <a:prstGeom prst="rect">
            <a:avLst/>
          </a:prstGeom>
          <a:solidFill>
            <a:srgbClr val="FAF9F5"/>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C7E0E7"/>
          </a:solidFill>
          <a:ln/>
        </p:spPr>
      </p:sp>
      <p:sp>
        <p:nvSpPr>
          <p:cNvPr id="3" name="Shape 1"/>
          <p:cNvSpPr/>
          <p:nvPr/>
        </p:nvSpPr>
        <p:spPr>
          <a:xfrm>
            <a:off x="0" y="0"/>
            <a:ext cx="9144000" cy="5143500"/>
          </a:xfrm>
          <a:prstGeom prst="rect">
            <a:avLst/>
          </a:prstGeom>
          <a:solidFill>
            <a:srgbClr val="FAF9F5"/>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C7E0E7"/>
          </a:solidFill>
          <a:ln/>
        </p:spPr>
      </p:sp>
      <p:sp>
        <p:nvSpPr>
          <p:cNvPr id="3" name="Shape 1"/>
          <p:cNvSpPr/>
          <p:nvPr/>
        </p:nvSpPr>
        <p:spPr>
          <a:xfrm>
            <a:off x="0" y="0"/>
            <a:ext cx="9144000" cy="5143500"/>
          </a:xfrm>
          <a:prstGeom prst="rect">
            <a:avLst/>
          </a:prstGeom>
          <a:solidFill>
            <a:srgbClr val="FAF9F5"/>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C7E0E7"/>
          </a:solidFill>
          <a:ln/>
        </p:spPr>
      </p:sp>
      <p:sp>
        <p:nvSpPr>
          <p:cNvPr id="3" name="Shape 1"/>
          <p:cNvSpPr/>
          <p:nvPr/>
        </p:nvSpPr>
        <p:spPr>
          <a:xfrm>
            <a:off x="0" y="0"/>
            <a:ext cx="9144000" cy="5143500"/>
          </a:xfrm>
          <a:prstGeom prst="rect">
            <a:avLst/>
          </a:prstGeom>
          <a:solidFill>
            <a:srgbClr val="FAF9F5"/>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C7E0E7"/>
          </a:solidFill>
          <a:ln/>
        </p:spPr>
      </p:sp>
      <p:sp>
        <p:nvSpPr>
          <p:cNvPr id="3" name="Shape 1"/>
          <p:cNvSpPr/>
          <p:nvPr/>
        </p:nvSpPr>
        <p:spPr>
          <a:xfrm>
            <a:off x="0" y="0"/>
            <a:ext cx="9144000" cy="5143500"/>
          </a:xfrm>
          <a:prstGeom prst="rect">
            <a:avLst/>
          </a:prstGeom>
          <a:solidFill>
            <a:srgbClr val="FAF9F5"/>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C7E0E7"/>
          </a:solidFill>
          <a:ln/>
        </p:spPr>
      </p:sp>
      <p:sp>
        <p:nvSpPr>
          <p:cNvPr id="3" name="Shape 1"/>
          <p:cNvSpPr/>
          <p:nvPr/>
        </p:nvSpPr>
        <p:spPr>
          <a:xfrm>
            <a:off x="0" y="0"/>
            <a:ext cx="9144000" cy="5143500"/>
          </a:xfrm>
          <a:prstGeom prst="rect">
            <a:avLst/>
          </a:prstGeom>
          <a:solidFill>
            <a:srgbClr val="FAF9F5"/>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96349" y="301972"/>
            <a:ext cx="1439763" cy="416421"/>
          </a:xfrm>
          <a:prstGeom prst="rect">
            <a:avLst/>
          </a:prstGeom>
        </p:spPr>
      </p:pic>
      <p:sp>
        <p:nvSpPr>
          <p:cNvPr id="3" name="Text 0"/>
          <p:cNvSpPr/>
          <p:nvPr/>
        </p:nvSpPr>
        <p:spPr>
          <a:xfrm>
            <a:off x="465160" y="678988"/>
            <a:ext cx="8213673" cy="269900"/>
          </a:xfrm>
          <a:prstGeom prst="rect">
            <a:avLst/>
          </a:prstGeom>
          <a:noFill/>
          <a:ln/>
        </p:spPr>
        <p:txBody>
          <a:bodyPr wrap="none" lIns="0" tIns="0" rIns="0" bIns="0" rtlCol="0" anchor="t"/>
          <a:lstStyle/>
          <a:p>
            <a:pPr marL="0" indent="0" algn="ctr">
              <a:lnSpc>
                <a:spcPct val="104000"/>
              </a:lnSpc>
              <a:buNone/>
            </a:pPr>
            <a:r>
              <a:rPr lang="en-US" sz="1700" dirty="0">
                <a:solidFill>
                  <a:srgbClr val="2E3C4E"/>
                </a:solidFill>
                <a:latin typeface="Host Grotesk Medium" pitchFamily="34" charset="0"/>
                <a:ea typeface="Host Grotesk Medium" pitchFamily="34" charset="-122"/>
                <a:cs typeface="Host Grotesk Medium" pitchFamily="34" charset="-120"/>
              </a:rPr>
              <a:t>MINI PROJECT</a:t>
            </a:r>
          </a:p>
          <a:p>
            <a:pPr marL="0" indent="0" algn="ctr">
              <a:lnSpc>
                <a:spcPct val="104000"/>
              </a:lnSpc>
              <a:buNone/>
            </a:pPr>
            <a:r>
              <a:rPr lang="en-US" sz="1700" dirty="0">
                <a:solidFill>
                  <a:srgbClr val="2E3C4E"/>
                </a:solidFill>
                <a:latin typeface="Host Grotesk Medium" pitchFamily="34" charset="0"/>
                <a:ea typeface="Host Grotesk Medium" pitchFamily="34" charset="-122"/>
                <a:cs typeface="Host Grotesk Medium" pitchFamily="34" charset="-120"/>
              </a:rPr>
              <a:t>Crack Detection Drone Using ESP32-CAM &amp; ML-Based Vision System</a:t>
            </a:r>
            <a:endParaRPr lang="en-US" sz="1700" dirty="0"/>
          </a:p>
        </p:txBody>
      </p:sp>
      <p:sp>
        <p:nvSpPr>
          <p:cNvPr id="4" name="Text 1"/>
          <p:cNvSpPr/>
          <p:nvPr/>
        </p:nvSpPr>
        <p:spPr>
          <a:xfrm>
            <a:off x="465162" y="1259607"/>
            <a:ext cx="8213675" cy="1411560"/>
          </a:xfrm>
          <a:prstGeom prst="rect">
            <a:avLst/>
          </a:prstGeom>
          <a:noFill/>
          <a:ln/>
        </p:spPr>
        <p:txBody>
          <a:bodyPr wrap="square" lIns="0" tIns="0" rIns="0" bIns="0" rtlCol="0" anchor="t"/>
          <a:lstStyle/>
          <a:p>
            <a:pPr marL="0" indent="0" algn="ctr">
              <a:lnSpc>
                <a:spcPct val="101000"/>
              </a:lnSpc>
              <a:spcAft>
                <a:spcPts val="450"/>
              </a:spcAft>
              <a:buNone/>
            </a:pPr>
            <a:r>
              <a:rPr lang="en-US" sz="1050" i="1" dirty="0">
                <a:solidFill>
                  <a:srgbClr val="384653"/>
                </a:solidFill>
                <a:latin typeface="Roboto" pitchFamily="34" charset="0"/>
                <a:ea typeface="Roboto" pitchFamily="34" charset="-122"/>
                <a:cs typeface="Roboto" pitchFamily="34" charset="-120"/>
              </a:rPr>
              <a:t>Department of Mechanical Engineering, Ramaiah Institute of Technology, Bengaluru – 560054</a:t>
            </a:r>
            <a:endParaRPr lang="en-US" sz="1050" dirty="0"/>
          </a:p>
        </p:txBody>
      </p:sp>
      <p:sp>
        <p:nvSpPr>
          <p:cNvPr id="5" name="Shape 2"/>
          <p:cNvSpPr/>
          <p:nvPr/>
        </p:nvSpPr>
        <p:spPr>
          <a:xfrm>
            <a:off x="465161" y="1737941"/>
            <a:ext cx="8213675" cy="1152970"/>
          </a:xfrm>
          <a:prstGeom prst="roundRect">
            <a:avLst>
              <a:gd name="adj" fmla="val 3974"/>
            </a:avLst>
          </a:prstGeom>
          <a:noFill/>
          <a:ln w="4763">
            <a:solidFill>
              <a:srgbClr val="000000">
                <a:alpha val="8000"/>
              </a:srgbClr>
            </a:solidFill>
            <a:prstDash val="solid"/>
          </a:ln>
        </p:spPr>
      </p:sp>
      <p:sp>
        <p:nvSpPr>
          <p:cNvPr id="6" name="Text 3"/>
          <p:cNvSpPr/>
          <p:nvPr/>
        </p:nvSpPr>
        <p:spPr>
          <a:xfrm>
            <a:off x="556244" y="1858931"/>
            <a:ext cx="1102593" cy="104254"/>
          </a:xfrm>
          <a:prstGeom prst="rect">
            <a:avLst/>
          </a:prstGeom>
          <a:noFill/>
          <a:ln/>
        </p:spPr>
        <p:txBody>
          <a:bodyPr wrap="none" lIns="0" tIns="0" rIns="0" bIns="0" rtlCol="0" anchor="t"/>
          <a:lstStyle/>
          <a:p>
            <a:pPr marL="0" indent="0" algn="l">
              <a:lnSpc>
                <a:spcPct val="101000"/>
              </a:lnSpc>
              <a:buNone/>
            </a:pPr>
            <a:r>
              <a:rPr lang="en-US" sz="1050" b="1" dirty="0">
                <a:solidFill>
                  <a:srgbClr val="384653"/>
                </a:solidFill>
                <a:latin typeface="Roboto" pitchFamily="34" charset="0"/>
                <a:ea typeface="Roboto" pitchFamily="34" charset="-122"/>
                <a:cs typeface="Roboto" pitchFamily="34" charset="-120"/>
              </a:rPr>
              <a:t>Sl. No</a:t>
            </a:r>
            <a:endParaRPr lang="en-US" sz="1050" dirty="0"/>
          </a:p>
        </p:txBody>
      </p:sp>
      <p:sp>
        <p:nvSpPr>
          <p:cNvPr id="7" name="Text 4"/>
          <p:cNvSpPr/>
          <p:nvPr/>
        </p:nvSpPr>
        <p:spPr>
          <a:xfrm>
            <a:off x="1379041" y="1865262"/>
            <a:ext cx="3561457" cy="104254"/>
          </a:xfrm>
          <a:prstGeom prst="rect">
            <a:avLst/>
          </a:prstGeom>
          <a:noFill/>
          <a:ln/>
        </p:spPr>
        <p:txBody>
          <a:bodyPr wrap="none" lIns="0" tIns="0" rIns="0" bIns="0" rtlCol="0" anchor="t"/>
          <a:lstStyle/>
          <a:p>
            <a:pPr marL="0" indent="0" algn="l">
              <a:lnSpc>
                <a:spcPct val="101000"/>
              </a:lnSpc>
              <a:buNone/>
            </a:pPr>
            <a:r>
              <a:rPr lang="en-US" sz="1050" b="1" dirty="0">
                <a:solidFill>
                  <a:srgbClr val="384653"/>
                </a:solidFill>
                <a:latin typeface="Roboto" pitchFamily="34" charset="0"/>
                <a:ea typeface="Roboto" pitchFamily="34" charset="-122"/>
                <a:cs typeface="Roboto" pitchFamily="34" charset="-120"/>
              </a:rPr>
              <a:t>Name</a:t>
            </a:r>
            <a:endParaRPr lang="en-US" sz="650" dirty="0"/>
          </a:p>
        </p:txBody>
      </p:sp>
      <p:sp>
        <p:nvSpPr>
          <p:cNvPr id="8" name="Text 5"/>
          <p:cNvSpPr/>
          <p:nvPr/>
        </p:nvSpPr>
        <p:spPr>
          <a:xfrm>
            <a:off x="4617541" y="1871661"/>
            <a:ext cx="4384253" cy="104254"/>
          </a:xfrm>
          <a:prstGeom prst="rect">
            <a:avLst/>
          </a:prstGeom>
          <a:noFill/>
          <a:ln/>
        </p:spPr>
        <p:txBody>
          <a:bodyPr wrap="none" lIns="0" tIns="0" rIns="0" bIns="0" rtlCol="0" anchor="t"/>
          <a:lstStyle/>
          <a:p>
            <a:pPr marL="0" indent="0" algn="l">
              <a:lnSpc>
                <a:spcPct val="101000"/>
              </a:lnSpc>
              <a:buNone/>
            </a:pPr>
            <a:r>
              <a:rPr lang="en-US" sz="1050" b="1" dirty="0">
                <a:solidFill>
                  <a:srgbClr val="384653"/>
                </a:solidFill>
                <a:latin typeface="Roboto" pitchFamily="34" charset="0"/>
                <a:ea typeface="Roboto" pitchFamily="34" charset="-122"/>
                <a:cs typeface="Roboto" pitchFamily="34" charset="-120"/>
              </a:rPr>
              <a:t>USN</a:t>
            </a:r>
            <a:endParaRPr lang="en-US" sz="1050" dirty="0"/>
          </a:p>
        </p:txBody>
      </p:sp>
      <p:sp>
        <p:nvSpPr>
          <p:cNvPr id="9" name="Text 6"/>
          <p:cNvSpPr/>
          <p:nvPr/>
        </p:nvSpPr>
        <p:spPr>
          <a:xfrm>
            <a:off x="556245" y="2067026"/>
            <a:ext cx="1102593" cy="104254"/>
          </a:xfrm>
          <a:prstGeom prst="rect">
            <a:avLst/>
          </a:prstGeom>
          <a:noFill/>
          <a:ln/>
        </p:spPr>
        <p:txBody>
          <a:bodyPr wrap="none" lIns="0" tIns="0" rIns="0" bIns="0" rtlCol="0" anchor="t"/>
          <a:lstStyle/>
          <a:p>
            <a:pPr marL="0" indent="0" algn="l">
              <a:lnSpc>
                <a:spcPct val="101000"/>
              </a:lnSpc>
              <a:buNone/>
            </a:pPr>
            <a:r>
              <a:rPr lang="en-US" sz="900" dirty="0">
                <a:solidFill>
                  <a:srgbClr val="384653"/>
                </a:solidFill>
                <a:latin typeface="Roboto" pitchFamily="34" charset="0"/>
                <a:ea typeface="Roboto" pitchFamily="34" charset="-122"/>
                <a:cs typeface="Roboto" pitchFamily="34" charset="-120"/>
              </a:rPr>
              <a:t>1</a:t>
            </a:r>
            <a:endParaRPr lang="en-US" sz="900" dirty="0"/>
          </a:p>
        </p:txBody>
      </p:sp>
      <p:sp>
        <p:nvSpPr>
          <p:cNvPr id="10" name="Text 7"/>
          <p:cNvSpPr/>
          <p:nvPr/>
        </p:nvSpPr>
        <p:spPr>
          <a:xfrm>
            <a:off x="1357461" y="2067026"/>
            <a:ext cx="3561457" cy="104254"/>
          </a:xfrm>
          <a:prstGeom prst="rect">
            <a:avLst/>
          </a:prstGeom>
          <a:noFill/>
          <a:ln/>
        </p:spPr>
        <p:txBody>
          <a:bodyPr wrap="none" lIns="0" tIns="0" rIns="0" bIns="0" rtlCol="0" anchor="t"/>
          <a:lstStyle/>
          <a:p>
            <a:pPr marL="0" indent="0" algn="l">
              <a:lnSpc>
                <a:spcPct val="101000"/>
              </a:lnSpc>
              <a:buNone/>
            </a:pPr>
            <a:r>
              <a:rPr lang="en-US" sz="1000" dirty="0"/>
              <a:t>Prateek Ghale</a:t>
            </a:r>
          </a:p>
        </p:txBody>
      </p:sp>
      <p:sp>
        <p:nvSpPr>
          <p:cNvPr id="11" name="Text 8"/>
          <p:cNvSpPr/>
          <p:nvPr/>
        </p:nvSpPr>
        <p:spPr>
          <a:xfrm>
            <a:off x="4617541" y="2069697"/>
            <a:ext cx="4384253" cy="104254"/>
          </a:xfrm>
          <a:prstGeom prst="rect">
            <a:avLst/>
          </a:prstGeom>
          <a:noFill/>
          <a:ln/>
        </p:spPr>
        <p:txBody>
          <a:bodyPr wrap="none" lIns="0" tIns="0" rIns="0" bIns="0" rtlCol="0" anchor="t"/>
          <a:lstStyle/>
          <a:p>
            <a:pPr marL="0" indent="0" algn="l">
              <a:lnSpc>
                <a:spcPct val="101000"/>
              </a:lnSpc>
              <a:buNone/>
            </a:pPr>
            <a:r>
              <a:rPr lang="en-US" sz="1000" dirty="0">
                <a:solidFill>
                  <a:srgbClr val="384653"/>
                </a:solidFill>
                <a:latin typeface="Roboto" pitchFamily="34" charset="0"/>
                <a:ea typeface="Roboto" pitchFamily="34" charset="-122"/>
                <a:cs typeface="Roboto" pitchFamily="34" charset="-120"/>
              </a:rPr>
              <a:t>1MS23ME086</a:t>
            </a:r>
            <a:endParaRPr lang="en-US" sz="1000" dirty="0"/>
          </a:p>
        </p:txBody>
      </p:sp>
      <p:sp>
        <p:nvSpPr>
          <p:cNvPr id="12" name="Text 9"/>
          <p:cNvSpPr/>
          <p:nvPr/>
        </p:nvSpPr>
        <p:spPr>
          <a:xfrm>
            <a:off x="556243" y="2251777"/>
            <a:ext cx="1102593" cy="104254"/>
          </a:xfrm>
          <a:prstGeom prst="rect">
            <a:avLst/>
          </a:prstGeom>
          <a:noFill/>
          <a:ln/>
        </p:spPr>
        <p:txBody>
          <a:bodyPr wrap="none" lIns="0" tIns="0" rIns="0" bIns="0" rtlCol="0" anchor="t"/>
          <a:lstStyle/>
          <a:p>
            <a:pPr marL="0" indent="0" algn="l">
              <a:lnSpc>
                <a:spcPct val="101000"/>
              </a:lnSpc>
              <a:buNone/>
            </a:pPr>
            <a:r>
              <a:rPr lang="en-US" sz="1000" dirty="0">
                <a:solidFill>
                  <a:srgbClr val="384653"/>
                </a:solidFill>
                <a:latin typeface="Roboto" pitchFamily="34" charset="0"/>
                <a:ea typeface="Roboto" pitchFamily="34" charset="-122"/>
                <a:cs typeface="Roboto" pitchFamily="34" charset="-120"/>
              </a:rPr>
              <a:t>2</a:t>
            </a:r>
            <a:endParaRPr lang="en-US" sz="1000" dirty="0"/>
          </a:p>
        </p:txBody>
      </p:sp>
      <p:sp>
        <p:nvSpPr>
          <p:cNvPr id="13" name="Text 10"/>
          <p:cNvSpPr/>
          <p:nvPr/>
        </p:nvSpPr>
        <p:spPr>
          <a:xfrm>
            <a:off x="1357460" y="2248374"/>
            <a:ext cx="3561457" cy="104254"/>
          </a:xfrm>
          <a:prstGeom prst="rect">
            <a:avLst/>
          </a:prstGeom>
          <a:noFill/>
          <a:ln/>
        </p:spPr>
        <p:txBody>
          <a:bodyPr wrap="none" lIns="0" tIns="0" rIns="0" bIns="0" rtlCol="0" anchor="t"/>
          <a:lstStyle/>
          <a:p>
            <a:pPr marL="0" indent="0" algn="l">
              <a:lnSpc>
                <a:spcPct val="101000"/>
              </a:lnSpc>
              <a:buNone/>
            </a:pPr>
            <a:r>
              <a:rPr lang="en-US" sz="1000" dirty="0"/>
              <a:t>Saamarth Sharma</a:t>
            </a:r>
          </a:p>
        </p:txBody>
      </p:sp>
      <p:sp>
        <p:nvSpPr>
          <p:cNvPr id="14" name="Text 11"/>
          <p:cNvSpPr/>
          <p:nvPr/>
        </p:nvSpPr>
        <p:spPr>
          <a:xfrm>
            <a:off x="4606750" y="2245464"/>
            <a:ext cx="4384253" cy="104254"/>
          </a:xfrm>
          <a:prstGeom prst="rect">
            <a:avLst/>
          </a:prstGeom>
          <a:noFill/>
          <a:ln/>
        </p:spPr>
        <p:txBody>
          <a:bodyPr wrap="none" lIns="0" tIns="0" rIns="0" bIns="0" rtlCol="0" anchor="t"/>
          <a:lstStyle/>
          <a:p>
            <a:pPr marL="0" indent="0" algn="l">
              <a:lnSpc>
                <a:spcPct val="101000"/>
              </a:lnSpc>
              <a:buNone/>
            </a:pPr>
            <a:r>
              <a:rPr lang="en-US" sz="1000" dirty="0">
                <a:solidFill>
                  <a:srgbClr val="384653"/>
                </a:solidFill>
                <a:latin typeface="Roboto" pitchFamily="34" charset="0"/>
                <a:ea typeface="Roboto" pitchFamily="34" charset="-122"/>
                <a:cs typeface="Roboto" pitchFamily="34" charset="-120"/>
              </a:rPr>
              <a:t>1MS23ME098</a:t>
            </a:r>
            <a:endParaRPr lang="en-US" sz="1000" dirty="0"/>
          </a:p>
        </p:txBody>
      </p:sp>
      <p:sp>
        <p:nvSpPr>
          <p:cNvPr id="15" name="Text 12"/>
          <p:cNvSpPr/>
          <p:nvPr/>
        </p:nvSpPr>
        <p:spPr>
          <a:xfrm>
            <a:off x="556245" y="2435991"/>
            <a:ext cx="1102593" cy="104254"/>
          </a:xfrm>
          <a:prstGeom prst="rect">
            <a:avLst/>
          </a:prstGeom>
          <a:noFill/>
          <a:ln/>
        </p:spPr>
        <p:txBody>
          <a:bodyPr wrap="none" lIns="0" tIns="0" rIns="0" bIns="0" rtlCol="0" anchor="t"/>
          <a:lstStyle/>
          <a:p>
            <a:pPr marL="0" indent="0" algn="l">
              <a:lnSpc>
                <a:spcPct val="101000"/>
              </a:lnSpc>
              <a:buNone/>
            </a:pPr>
            <a:r>
              <a:rPr lang="en-US" sz="1000" dirty="0">
                <a:solidFill>
                  <a:srgbClr val="384653"/>
                </a:solidFill>
                <a:latin typeface="Roboto" pitchFamily="34" charset="0"/>
                <a:ea typeface="Roboto" pitchFamily="34" charset="-122"/>
                <a:cs typeface="Roboto" pitchFamily="34" charset="-120"/>
              </a:rPr>
              <a:t>3</a:t>
            </a:r>
            <a:endParaRPr lang="en-US" sz="1000" dirty="0"/>
          </a:p>
        </p:txBody>
      </p:sp>
      <p:sp>
        <p:nvSpPr>
          <p:cNvPr id="16" name="Text 13"/>
          <p:cNvSpPr/>
          <p:nvPr/>
        </p:nvSpPr>
        <p:spPr>
          <a:xfrm>
            <a:off x="1349274" y="2434740"/>
            <a:ext cx="3561457" cy="104254"/>
          </a:xfrm>
          <a:prstGeom prst="rect">
            <a:avLst/>
          </a:prstGeom>
          <a:noFill/>
          <a:ln/>
        </p:spPr>
        <p:txBody>
          <a:bodyPr wrap="none" lIns="0" tIns="0" rIns="0" bIns="0" rtlCol="0" anchor="t"/>
          <a:lstStyle/>
          <a:p>
            <a:pPr marL="0" indent="0" algn="l">
              <a:lnSpc>
                <a:spcPct val="101000"/>
              </a:lnSpc>
              <a:buNone/>
            </a:pPr>
            <a:r>
              <a:rPr lang="en-US" sz="1000" dirty="0"/>
              <a:t>Shashanka C</a:t>
            </a:r>
          </a:p>
        </p:txBody>
      </p:sp>
      <p:sp>
        <p:nvSpPr>
          <p:cNvPr id="17" name="Text 14"/>
          <p:cNvSpPr/>
          <p:nvPr/>
        </p:nvSpPr>
        <p:spPr>
          <a:xfrm>
            <a:off x="4617538" y="2437431"/>
            <a:ext cx="4384253" cy="104254"/>
          </a:xfrm>
          <a:prstGeom prst="rect">
            <a:avLst/>
          </a:prstGeom>
          <a:noFill/>
          <a:ln/>
        </p:spPr>
        <p:txBody>
          <a:bodyPr wrap="none" lIns="0" tIns="0" rIns="0" bIns="0" rtlCol="0" anchor="t"/>
          <a:lstStyle/>
          <a:p>
            <a:pPr marL="0" indent="0" algn="l">
              <a:lnSpc>
                <a:spcPct val="101000"/>
              </a:lnSpc>
              <a:buNone/>
            </a:pPr>
            <a:r>
              <a:rPr lang="en-US" sz="1000" dirty="0">
                <a:solidFill>
                  <a:srgbClr val="384653"/>
                </a:solidFill>
                <a:latin typeface="Roboto" pitchFamily="34" charset="0"/>
                <a:ea typeface="Roboto" pitchFamily="34" charset="-122"/>
                <a:cs typeface="Roboto" pitchFamily="34" charset="-120"/>
              </a:rPr>
              <a:t>1MS23ME106</a:t>
            </a:r>
            <a:endParaRPr lang="en-US" sz="1000" dirty="0"/>
          </a:p>
        </p:txBody>
      </p:sp>
      <p:sp>
        <p:nvSpPr>
          <p:cNvPr id="18" name="Text 15"/>
          <p:cNvSpPr/>
          <p:nvPr/>
        </p:nvSpPr>
        <p:spPr>
          <a:xfrm>
            <a:off x="556245" y="2625494"/>
            <a:ext cx="1102593" cy="104254"/>
          </a:xfrm>
          <a:prstGeom prst="rect">
            <a:avLst/>
          </a:prstGeom>
          <a:noFill/>
          <a:ln/>
        </p:spPr>
        <p:txBody>
          <a:bodyPr wrap="none" lIns="0" tIns="0" rIns="0" bIns="0" rtlCol="0" anchor="t"/>
          <a:lstStyle/>
          <a:p>
            <a:pPr marL="0" indent="0" algn="l">
              <a:lnSpc>
                <a:spcPct val="101000"/>
              </a:lnSpc>
              <a:buNone/>
            </a:pPr>
            <a:r>
              <a:rPr lang="en-US" sz="1000" dirty="0">
                <a:solidFill>
                  <a:srgbClr val="384653"/>
                </a:solidFill>
                <a:latin typeface="Roboto" pitchFamily="34" charset="0"/>
                <a:ea typeface="Roboto" pitchFamily="34" charset="-122"/>
                <a:cs typeface="Roboto" pitchFamily="34" charset="-120"/>
              </a:rPr>
              <a:t>4</a:t>
            </a:r>
            <a:endParaRPr lang="en-US" sz="1000" dirty="0"/>
          </a:p>
        </p:txBody>
      </p:sp>
      <p:sp>
        <p:nvSpPr>
          <p:cNvPr id="19" name="Text 16"/>
          <p:cNvSpPr/>
          <p:nvPr/>
        </p:nvSpPr>
        <p:spPr>
          <a:xfrm>
            <a:off x="1349273" y="2626669"/>
            <a:ext cx="3561457" cy="104254"/>
          </a:xfrm>
          <a:prstGeom prst="rect">
            <a:avLst/>
          </a:prstGeom>
          <a:noFill/>
          <a:ln/>
        </p:spPr>
        <p:txBody>
          <a:bodyPr wrap="none" lIns="0" tIns="0" rIns="0" bIns="0" rtlCol="0" anchor="t"/>
          <a:lstStyle/>
          <a:p>
            <a:pPr marL="0" indent="0" algn="l">
              <a:lnSpc>
                <a:spcPct val="101000"/>
              </a:lnSpc>
              <a:buNone/>
            </a:pPr>
            <a:r>
              <a:rPr lang="en-US" sz="1000" dirty="0"/>
              <a:t>Utkarsh Goel</a:t>
            </a:r>
          </a:p>
        </p:txBody>
      </p:sp>
      <p:sp>
        <p:nvSpPr>
          <p:cNvPr id="20" name="Text 17"/>
          <p:cNvSpPr/>
          <p:nvPr/>
        </p:nvSpPr>
        <p:spPr>
          <a:xfrm>
            <a:off x="4617541" y="2626669"/>
            <a:ext cx="4384253" cy="104254"/>
          </a:xfrm>
          <a:prstGeom prst="rect">
            <a:avLst/>
          </a:prstGeom>
          <a:noFill/>
          <a:ln/>
        </p:spPr>
        <p:txBody>
          <a:bodyPr wrap="none" lIns="0" tIns="0" rIns="0" bIns="0" rtlCol="0" anchor="t"/>
          <a:lstStyle/>
          <a:p>
            <a:pPr marL="0" indent="0" algn="l">
              <a:lnSpc>
                <a:spcPct val="101000"/>
              </a:lnSpc>
              <a:buNone/>
            </a:pPr>
            <a:r>
              <a:rPr lang="en-US" sz="1000" dirty="0">
                <a:solidFill>
                  <a:srgbClr val="384653"/>
                </a:solidFill>
                <a:latin typeface="Roboto" pitchFamily="34" charset="0"/>
                <a:ea typeface="Roboto" pitchFamily="34" charset="-122"/>
                <a:cs typeface="Roboto" pitchFamily="34" charset="-120"/>
              </a:rPr>
              <a:t>1MS23ME123</a:t>
            </a:r>
            <a:endParaRPr lang="en-US" sz="1000" dirty="0"/>
          </a:p>
        </p:txBody>
      </p:sp>
      <p:sp>
        <p:nvSpPr>
          <p:cNvPr id="21" name="Text 18"/>
          <p:cNvSpPr/>
          <p:nvPr/>
        </p:nvSpPr>
        <p:spPr>
          <a:xfrm>
            <a:off x="465158" y="3283221"/>
            <a:ext cx="8213675" cy="1025575"/>
          </a:xfrm>
          <a:prstGeom prst="rect">
            <a:avLst/>
          </a:prstGeom>
          <a:noFill/>
          <a:ln/>
        </p:spPr>
        <p:txBody>
          <a:bodyPr wrap="square" lIns="0" tIns="0" rIns="0" bIns="0" rtlCol="0" anchor="t">
            <a:normAutofit/>
          </a:bodyPr>
          <a:lstStyle/>
          <a:p>
            <a:pPr marL="0" indent="0" algn="ctr">
              <a:lnSpc>
                <a:spcPct val="101000"/>
              </a:lnSpc>
              <a:buNone/>
            </a:pPr>
            <a:r>
              <a:rPr lang="en-US" sz="1100" b="1" dirty="0">
                <a:solidFill>
                  <a:srgbClr val="384653"/>
                </a:solidFill>
                <a:latin typeface="Roboto" pitchFamily="34" charset="0"/>
                <a:ea typeface="Roboto" pitchFamily="34" charset="-122"/>
                <a:cs typeface="Roboto" pitchFamily="34" charset="-120"/>
              </a:rPr>
              <a:t>Guide name:</a:t>
            </a:r>
            <a:r>
              <a:rPr lang="en-US" sz="1100" dirty="0">
                <a:solidFill>
                  <a:srgbClr val="384653"/>
                </a:solidFill>
                <a:latin typeface="Roboto" pitchFamily="34" charset="0"/>
                <a:ea typeface="Roboto" pitchFamily="34" charset="-122"/>
                <a:cs typeface="Roboto" pitchFamily="34" charset="-120"/>
              </a:rPr>
              <a:t> Dr. Aruna Kumar P C | Assistant Professor</a:t>
            </a:r>
            <a:endParaRPr lang="en-US" sz="1100" dirty="0"/>
          </a:p>
          <a:p>
            <a:pPr marL="0" indent="0" algn="ctr">
              <a:lnSpc>
                <a:spcPct val="101000"/>
              </a:lnSpc>
              <a:spcAft>
                <a:spcPts val="450"/>
              </a:spcAft>
              <a:buNone/>
            </a:pPr>
            <a:r>
              <a:rPr lang="en-US" sz="1100" dirty="0">
                <a:solidFill>
                  <a:srgbClr val="384653"/>
                </a:solidFill>
                <a:latin typeface="Roboto" pitchFamily="34" charset="0"/>
                <a:ea typeface="Roboto" pitchFamily="34" charset="-122"/>
                <a:cs typeface="Roboto" pitchFamily="34" charset="-120"/>
              </a:rPr>
              <a:t>Group No: 16</a:t>
            </a:r>
            <a:endParaRPr lang="en-US" sz="1100" dirty="0"/>
          </a:p>
          <a:p>
            <a:pPr marL="0" indent="0" algn="ctr">
              <a:lnSpc>
                <a:spcPct val="101000"/>
              </a:lnSpc>
              <a:buNone/>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11713" y="349374"/>
            <a:ext cx="1386111" cy="400943"/>
          </a:xfrm>
          <a:prstGeom prst="rect">
            <a:avLst/>
          </a:prstGeom>
        </p:spPr>
      </p:pic>
      <p:sp>
        <p:nvSpPr>
          <p:cNvPr id="3" name="Text 0"/>
          <p:cNvSpPr/>
          <p:nvPr/>
        </p:nvSpPr>
        <p:spPr>
          <a:xfrm>
            <a:off x="496119" y="1086817"/>
            <a:ext cx="3292525" cy="354360"/>
          </a:xfrm>
          <a:prstGeom prst="rect">
            <a:avLst/>
          </a:prstGeom>
          <a:noFill/>
          <a:ln/>
        </p:spPr>
        <p:txBody>
          <a:bodyPr wrap="none" lIns="0" tIns="0" rIns="0" bIns="0" rtlCol="0" anchor="t"/>
          <a:lstStyle/>
          <a:p>
            <a:pPr marL="0" indent="0" algn="l">
              <a:lnSpc>
                <a:spcPct val="104000"/>
              </a:lnSpc>
              <a:buNone/>
            </a:pPr>
            <a:r>
              <a:rPr lang="en-US" sz="2200" dirty="0">
                <a:solidFill>
                  <a:srgbClr val="2E3C4E"/>
                </a:solidFill>
                <a:latin typeface="Host Grotesk Medium" pitchFamily="34" charset="0"/>
                <a:ea typeface="Host Grotesk Medium" pitchFamily="34" charset="-122"/>
                <a:cs typeface="Host Grotesk Medium" pitchFamily="34" charset="-120"/>
              </a:rPr>
              <a:t>Abstract</a:t>
            </a:r>
            <a:endParaRPr lang="en-US" sz="2200" dirty="0"/>
          </a:p>
        </p:txBody>
      </p:sp>
      <p:sp>
        <p:nvSpPr>
          <p:cNvPr id="4" name="Text 1"/>
          <p:cNvSpPr/>
          <p:nvPr/>
        </p:nvSpPr>
        <p:spPr>
          <a:xfrm>
            <a:off x="496119" y="1577206"/>
            <a:ext cx="8151763" cy="1581671"/>
          </a:xfrm>
          <a:prstGeom prst="rect">
            <a:avLst/>
          </a:prstGeom>
          <a:noFill/>
          <a:ln/>
        </p:spPr>
        <p:txBody>
          <a:bodyPr wrap="square" lIns="0" tIns="0" rIns="0" bIns="0" rtlCol="0" anchor="t">
            <a:normAutofit fontScale="92500" lnSpcReduction="10000"/>
          </a:bodyPr>
          <a:lstStyle/>
          <a:p>
            <a:pPr marL="0" indent="0" algn="l">
              <a:lnSpc>
                <a:spcPct val="112000"/>
              </a:lnSpc>
              <a:buNone/>
            </a:pPr>
            <a:r>
              <a:rPr lang="en-US" sz="850" dirty="0">
                <a:solidFill>
                  <a:srgbClr val="384653"/>
                </a:solidFill>
                <a:latin typeface="Roboto" pitchFamily="34" charset="0"/>
                <a:ea typeface="Roboto" pitchFamily="34" charset="-122"/>
                <a:cs typeface="Roboto" pitchFamily="34" charset="-120"/>
              </a:rPr>
              <a:t>Structural integrity monitoring of buildings, bridges, and road surfaces is a critical yet labor-intensive process. This project presents an </a:t>
            </a:r>
            <a:r>
              <a:rPr lang="en-US" sz="850" b="1" dirty="0">
                <a:solidFill>
                  <a:srgbClr val="384653"/>
                </a:solidFill>
                <a:latin typeface="Roboto" pitchFamily="34" charset="0"/>
                <a:ea typeface="Roboto" pitchFamily="34" charset="-122"/>
                <a:cs typeface="Roboto" pitchFamily="34" charset="-120"/>
              </a:rPr>
              <a:t>autonomous crack-detection drone</a:t>
            </a:r>
            <a:r>
              <a:rPr lang="en-US" sz="850" dirty="0">
                <a:solidFill>
                  <a:srgbClr val="384653"/>
                </a:solidFill>
                <a:latin typeface="Roboto" pitchFamily="34" charset="0"/>
                <a:ea typeface="Roboto" pitchFamily="34" charset="-122"/>
                <a:cs typeface="Roboto" pitchFamily="34" charset="-120"/>
              </a:rPr>
              <a:t> integrating an </a:t>
            </a:r>
            <a:r>
              <a:rPr lang="en-US" sz="850" b="1" dirty="0">
                <a:solidFill>
                  <a:srgbClr val="384653"/>
                </a:solidFill>
                <a:latin typeface="Roboto" pitchFamily="34" charset="0"/>
                <a:ea typeface="Roboto" pitchFamily="34" charset="-122"/>
                <a:cs typeface="Roboto" pitchFamily="34" charset="-120"/>
              </a:rPr>
              <a:t>ESP32-CAM module</a:t>
            </a:r>
            <a:r>
              <a:rPr lang="en-US" sz="850" dirty="0">
                <a:solidFill>
                  <a:srgbClr val="384653"/>
                </a:solidFill>
                <a:latin typeface="Roboto" pitchFamily="34" charset="0"/>
                <a:ea typeface="Roboto" pitchFamily="34" charset="-122"/>
                <a:cs typeface="Roboto" pitchFamily="34" charset="-120"/>
              </a:rPr>
              <a:t> with an </a:t>
            </a:r>
            <a:r>
              <a:rPr lang="en-US" sz="850" b="1" dirty="0">
                <a:solidFill>
                  <a:srgbClr val="384653"/>
                </a:solidFill>
                <a:latin typeface="Roboto" pitchFamily="34" charset="0"/>
                <a:ea typeface="Roboto" pitchFamily="34" charset="-122"/>
                <a:cs typeface="Roboto" pitchFamily="34" charset="-120"/>
              </a:rPr>
              <a:t>OV2640 image sensor</a:t>
            </a:r>
            <a:r>
              <a:rPr lang="en-US" sz="850" dirty="0">
                <a:solidFill>
                  <a:srgbClr val="384653"/>
                </a:solidFill>
                <a:latin typeface="Roboto" pitchFamily="34" charset="0"/>
                <a:ea typeface="Roboto" pitchFamily="34" charset="-122"/>
                <a:cs typeface="Roboto" pitchFamily="34" charset="-120"/>
              </a:rPr>
              <a:t> mounted on a custom drone frame. A trained </a:t>
            </a:r>
            <a:r>
              <a:rPr lang="en-US" sz="850" b="1" dirty="0">
                <a:solidFill>
                  <a:srgbClr val="384653"/>
                </a:solidFill>
                <a:latin typeface="Roboto" pitchFamily="34" charset="0"/>
                <a:ea typeface="Roboto" pitchFamily="34" charset="-122"/>
                <a:cs typeface="Roboto" pitchFamily="34" charset="-120"/>
              </a:rPr>
              <a:t>machine learning model</a:t>
            </a:r>
            <a:r>
              <a:rPr lang="en-US" sz="850" dirty="0">
                <a:solidFill>
                  <a:srgbClr val="384653"/>
                </a:solidFill>
                <a:latin typeface="Roboto" pitchFamily="34" charset="0"/>
                <a:ea typeface="Roboto" pitchFamily="34" charset="-122"/>
                <a:cs typeface="Roboto" pitchFamily="34" charset="-120"/>
              </a:rPr>
              <a:t> processes real-time imagery to identify surface cracks with high accuracy.</a:t>
            </a:r>
            <a:endParaRPr lang="en-US" sz="850" dirty="0"/>
          </a:p>
          <a:p>
            <a:pPr marL="0" indent="0" algn="l">
              <a:lnSpc>
                <a:spcPct val="112000"/>
              </a:lnSpc>
              <a:buNone/>
            </a:pPr>
            <a:r>
              <a:rPr lang="en-US" sz="850" dirty="0">
                <a:solidFill>
                  <a:srgbClr val="384653"/>
                </a:solidFill>
                <a:latin typeface="Roboto" pitchFamily="34" charset="0"/>
                <a:ea typeface="Roboto" pitchFamily="34" charset="-122"/>
                <a:cs typeface="Roboto" pitchFamily="34" charset="-120"/>
              </a:rPr>
              <a:t>The system is designed to reduce manual inspection effort by enabling </a:t>
            </a:r>
            <a:r>
              <a:rPr lang="en-US" sz="850" b="1" dirty="0">
                <a:solidFill>
                  <a:srgbClr val="384653"/>
                </a:solidFill>
                <a:latin typeface="Roboto" pitchFamily="34" charset="0"/>
                <a:ea typeface="Roboto" pitchFamily="34" charset="-122"/>
                <a:cs typeface="Roboto" pitchFamily="34" charset="-120"/>
              </a:rPr>
              <a:t>rapid aerial screening</a:t>
            </a:r>
            <a:r>
              <a:rPr lang="en-US" sz="850" dirty="0">
                <a:solidFill>
                  <a:srgbClr val="384653"/>
                </a:solidFill>
                <a:latin typeface="Roboto" pitchFamily="34" charset="0"/>
                <a:ea typeface="Roboto" pitchFamily="34" charset="-122"/>
                <a:cs typeface="Roboto" pitchFamily="34" charset="-120"/>
              </a:rPr>
              <a:t> of hard-to-reach surfaces and capturing visual evidence in real time. Its compact embedded architecture supports onboard image acquisition and inference, making it suitable for lightweight inspection missions where speed, accessibility, and low deployment cost are important.</a:t>
            </a:r>
            <a:endParaRPr lang="en-US" sz="850" dirty="0"/>
          </a:p>
          <a:p>
            <a:pPr marL="0" indent="0">
              <a:lnSpc>
                <a:spcPct val="112000"/>
              </a:lnSpc>
              <a:buNone/>
            </a:pPr>
            <a:r>
              <a:rPr lang="en-US" sz="850" dirty="0">
                <a:solidFill>
                  <a:srgbClr val="384653"/>
                </a:solidFill>
                <a:latin typeface="Roboto" pitchFamily="34" charset="0"/>
                <a:ea typeface="Roboto" pitchFamily="34" charset="-122"/>
                <a:cs typeface="Roboto" pitchFamily="34" charset="-120"/>
              </a:rPr>
              <a:t>The project’s key innovations include an </a:t>
            </a:r>
            <a:r>
              <a:rPr lang="en-US" sz="850" b="1" dirty="0">
                <a:solidFill>
                  <a:srgbClr val="384653"/>
                </a:solidFill>
                <a:latin typeface="Roboto" pitchFamily="34" charset="0"/>
                <a:ea typeface="Roboto" pitchFamily="34" charset="-122"/>
                <a:cs typeface="Roboto" pitchFamily="34" charset="-120"/>
              </a:rPr>
              <a:t>integrated low-cost sensing platform</a:t>
            </a:r>
            <a:r>
              <a:rPr lang="en-US" sz="850" dirty="0">
                <a:solidFill>
                  <a:srgbClr val="384653"/>
                </a:solidFill>
                <a:latin typeface="Roboto" pitchFamily="34" charset="0"/>
                <a:ea typeface="Roboto" pitchFamily="34" charset="-122"/>
                <a:cs typeface="Roboto" pitchFamily="34" charset="-120"/>
              </a:rPr>
              <a:t>, </a:t>
            </a:r>
            <a:r>
              <a:rPr lang="en-US" sz="850" b="1" dirty="0">
                <a:solidFill>
                  <a:srgbClr val="384653"/>
                </a:solidFill>
                <a:latin typeface="Roboto" pitchFamily="34" charset="0"/>
                <a:ea typeface="Roboto" pitchFamily="34" charset="-122"/>
                <a:cs typeface="Roboto" pitchFamily="34" charset="-120"/>
              </a:rPr>
              <a:t>edge-based vision processing</a:t>
            </a:r>
            <a:r>
              <a:rPr lang="en-US" sz="850" dirty="0">
                <a:solidFill>
                  <a:srgbClr val="384653"/>
                </a:solidFill>
                <a:latin typeface="Roboto" pitchFamily="34" charset="0"/>
                <a:ea typeface="Roboto" pitchFamily="34" charset="-122"/>
                <a:cs typeface="Roboto" pitchFamily="34" charset="-120"/>
              </a:rPr>
              <a:t>, and a drone payload optimized for inspection in constrained environments. By combining hardware design, embedded vision, and ML-based classification, the solution aims to improve inspection efficiency while maintaining portability and practical deployment readiness.</a:t>
            </a:r>
          </a:p>
          <a:p>
            <a:pPr marL="0" indent="0">
              <a:lnSpc>
                <a:spcPct val="112000"/>
              </a:lnSpc>
              <a:buNone/>
            </a:pPr>
            <a:endParaRPr lang="en-US" sz="850" dirty="0">
              <a:solidFill>
                <a:srgbClr val="384653"/>
              </a:solidFill>
              <a:latin typeface="Roboto" pitchFamily="34" charset="0"/>
              <a:ea typeface="Roboto" pitchFamily="34" charset="-122"/>
              <a:cs typeface="Roboto" pitchFamily="34" charset="-120"/>
            </a:endParaRPr>
          </a:p>
          <a:p>
            <a:pPr>
              <a:lnSpc>
                <a:spcPct val="101000"/>
              </a:lnSpc>
            </a:pPr>
            <a:r>
              <a:rPr lang="en-US" sz="800" b="1" dirty="0">
                <a:solidFill>
                  <a:srgbClr val="384653"/>
                </a:solidFill>
                <a:latin typeface="Roboto" pitchFamily="34" charset="0"/>
                <a:ea typeface="Roboto" pitchFamily="34" charset="-122"/>
                <a:cs typeface="Roboto" pitchFamily="34" charset="-120"/>
              </a:rPr>
              <a:t>Keywords:</a:t>
            </a:r>
            <a:r>
              <a:rPr lang="en-US" sz="800" dirty="0">
                <a:solidFill>
                  <a:srgbClr val="384653"/>
                </a:solidFill>
                <a:latin typeface="Roboto" pitchFamily="34" charset="0"/>
                <a:ea typeface="Roboto" pitchFamily="34" charset="-122"/>
                <a:cs typeface="Roboto" pitchFamily="34" charset="-120"/>
              </a:rPr>
              <a:t> ESP32-CAM, crack detection, drone inspection, image processing, machine learning</a:t>
            </a:r>
            <a:endParaRPr lang="en-US" sz="800" dirty="0"/>
          </a:p>
          <a:p>
            <a:pPr>
              <a:lnSpc>
                <a:spcPct val="101000"/>
              </a:lnSpc>
            </a:pPr>
            <a:r>
              <a:rPr lang="en-US" sz="800" b="1" dirty="0">
                <a:solidFill>
                  <a:srgbClr val="384653"/>
                </a:solidFill>
                <a:latin typeface="Roboto" pitchFamily="34" charset="0"/>
                <a:ea typeface="Roboto" pitchFamily="34" charset="-122"/>
                <a:cs typeface="Roboto" pitchFamily="34" charset="-120"/>
              </a:rPr>
              <a:t>Prepared for:</a:t>
            </a:r>
            <a:r>
              <a:rPr lang="en-US" sz="800" dirty="0">
                <a:solidFill>
                  <a:srgbClr val="384653"/>
                </a:solidFill>
                <a:latin typeface="Roboto" pitchFamily="34" charset="0"/>
                <a:ea typeface="Roboto" pitchFamily="34" charset="-122"/>
                <a:cs typeface="Roboto" pitchFamily="34" charset="-120"/>
              </a:rPr>
              <a:t> Departmental project submission and demonstration</a:t>
            </a:r>
            <a:endParaRPr lang="en-US" sz="800" dirty="0"/>
          </a:p>
          <a:p>
            <a:pPr>
              <a:lnSpc>
                <a:spcPct val="101000"/>
              </a:lnSpc>
            </a:pPr>
            <a:r>
              <a:rPr lang="en-US" sz="800" b="1" dirty="0">
                <a:solidFill>
                  <a:srgbClr val="384653"/>
                </a:solidFill>
                <a:latin typeface="Roboto" pitchFamily="34" charset="0"/>
                <a:ea typeface="Roboto" pitchFamily="34" charset="-122"/>
                <a:cs typeface="Roboto" pitchFamily="34" charset="-120"/>
              </a:rPr>
              <a:t>Mode:</a:t>
            </a:r>
            <a:r>
              <a:rPr lang="en-US" sz="800" dirty="0">
                <a:solidFill>
                  <a:srgbClr val="384653"/>
                </a:solidFill>
                <a:latin typeface="Roboto" pitchFamily="34" charset="0"/>
                <a:ea typeface="Roboto" pitchFamily="34" charset="-122"/>
                <a:cs typeface="Roboto" pitchFamily="34" charset="-120"/>
              </a:rPr>
              <a:t> Embedded vision-based autonomous inspection system</a:t>
            </a:r>
            <a:endParaRPr lang="en-US" sz="800" dirty="0"/>
          </a:p>
          <a:p>
            <a:pPr>
              <a:lnSpc>
                <a:spcPct val="101000"/>
              </a:lnSpc>
            </a:pPr>
            <a:endParaRPr lang="en-US" sz="800" dirty="0"/>
          </a:p>
          <a:p>
            <a:pPr marL="0" indent="0" algn="l">
              <a:lnSpc>
                <a:spcPct val="112000"/>
              </a:lnSpc>
              <a:buNone/>
            </a:pPr>
            <a:endParaRPr lang="en-US" sz="850" dirty="0"/>
          </a:p>
        </p:txBody>
      </p:sp>
      <p:sp>
        <p:nvSpPr>
          <p:cNvPr id="5" name="Shape 2"/>
          <p:cNvSpPr/>
          <p:nvPr/>
        </p:nvSpPr>
        <p:spPr>
          <a:xfrm>
            <a:off x="496119" y="3260899"/>
            <a:ext cx="4030489" cy="620985"/>
          </a:xfrm>
          <a:prstGeom prst="roundRect">
            <a:avLst>
              <a:gd name="adj" fmla="val 7671"/>
            </a:avLst>
          </a:prstGeom>
          <a:solidFill>
            <a:srgbClr val="D9EDF2"/>
          </a:solidFill>
          <a:ln w="4763">
            <a:solidFill>
              <a:srgbClr val="BFD3D8"/>
            </a:solidFill>
            <a:prstDash val="solid"/>
          </a:ln>
        </p:spPr>
      </p:sp>
      <p:sp>
        <p:nvSpPr>
          <p:cNvPr id="6" name="Text 3"/>
          <p:cNvSpPr/>
          <p:nvPr/>
        </p:nvSpPr>
        <p:spPr>
          <a:xfrm>
            <a:off x="614288" y="3379068"/>
            <a:ext cx="1417662" cy="177180"/>
          </a:xfrm>
          <a:prstGeom prst="rect">
            <a:avLst/>
          </a:prstGeom>
          <a:noFill/>
          <a:ln/>
        </p:spPr>
        <p:txBody>
          <a:bodyPr wrap="none" lIns="0" tIns="0" rIns="0" bIns="0" rtlCol="0" anchor="t"/>
          <a:lstStyle/>
          <a:p>
            <a:pPr marL="0" indent="0" algn="l">
              <a:lnSpc>
                <a:spcPct val="104000"/>
              </a:lnSpc>
              <a:buNone/>
            </a:pPr>
            <a:r>
              <a:rPr lang="en-US" sz="1100" dirty="0">
                <a:solidFill>
                  <a:srgbClr val="384653"/>
                </a:solidFill>
                <a:latin typeface="Host Grotesk Medium" pitchFamily="34" charset="0"/>
                <a:ea typeface="Host Grotesk Medium" pitchFamily="34" charset="-122"/>
                <a:cs typeface="Host Grotesk Medium" pitchFamily="34" charset="-120"/>
              </a:rPr>
              <a:t>Platform</a:t>
            </a:r>
            <a:endParaRPr lang="en-US" sz="1100" dirty="0"/>
          </a:p>
        </p:txBody>
      </p:sp>
      <p:sp>
        <p:nvSpPr>
          <p:cNvPr id="7" name="Text 4"/>
          <p:cNvSpPr/>
          <p:nvPr/>
        </p:nvSpPr>
        <p:spPr>
          <a:xfrm>
            <a:off x="614288" y="3610645"/>
            <a:ext cx="3794150" cy="153070"/>
          </a:xfrm>
          <a:prstGeom prst="rect">
            <a:avLst/>
          </a:prstGeom>
          <a:noFill/>
          <a:ln/>
        </p:spPr>
        <p:txBody>
          <a:bodyPr wrap="none" lIns="0" tIns="0" rIns="0" bIns="0" rtlCol="0" anchor="t"/>
          <a:lstStyle/>
          <a:p>
            <a:pPr marL="0" indent="0" algn="l">
              <a:lnSpc>
                <a:spcPct val="112000"/>
              </a:lnSpc>
              <a:buNone/>
            </a:pPr>
            <a:r>
              <a:rPr lang="en-US" sz="850" dirty="0">
                <a:solidFill>
                  <a:srgbClr val="384653"/>
                </a:solidFill>
                <a:latin typeface="Roboto" pitchFamily="34" charset="0"/>
                <a:ea typeface="Roboto" pitchFamily="34" charset="-122"/>
                <a:cs typeface="Roboto" pitchFamily="34" charset="-120"/>
              </a:rPr>
              <a:t>Quadcopter drone with custom ESP32-CAM sensor mount</a:t>
            </a:r>
            <a:endParaRPr lang="en-US" sz="850" dirty="0"/>
          </a:p>
        </p:txBody>
      </p:sp>
      <p:sp>
        <p:nvSpPr>
          <p:cNvPr id="8" name="Shape 5"/>
          <p:cNvSpPr/>
          <p:nvPr/>
        </p:nvSpPr>
        <p:spPr>
          <a:xfrm>
            <a:off x="4617318" y="3260899"/>
            <a:ext cx="4030563" cy="620985"/>
          </a:xfrm>
          <a:prstGeom prst="roundRect">
            <a:avLst>
              <a:gd name="adj" fmla="val 7671"/>
            </a:avLst>
          </a:prstGeom>
          <a:solidFill>
            <a:srgbClr val="D9EDF2"/>
          </a:solidFill>
          <a:ln w="4763">
            <a:solidFill>
              <a:srgbClr val="BFD3D8"/>
            </a:solidFill>
            <a:prstDash val="solid"/>
          </a:ln>
        </p:spPr>
      </p:sp>
      <p:sp>
        <p:nvSpPr>
          <p:cNvPr id="9" name="Text 6"/>
          <p:cNvSpPr/>
          <p:nvPr/>
        </p:nvSpPr>
        <p:spPr>
          <a:xfrm>
            <a:off x="4735488" y="3379068"/>
            <a:ext cx="1417662" cy="177180"/>
          </a:xfrm>
          <a:prstGeom prst="rect">
            <a:avLst/>
          </a:prstGeom>
          <a:noFill/>
          <a:ln/>
        </p:spPr>
        <p:txBody>
          <a:bodyPr wrap="none" lIns="0" tIns="0" rIns="0" bIns="0" rtlCol="0" anchor="t"/>
          <a:lstStyle/>
          <a:p>
            <a:pPr marL="0" indent="0" algn="l">
              <a:lnSpc>
                <a:spcPct val="104000"/>
              </a:lnSpc>
              <a:buNone/>
            </a:pPr>
            <a:r>
              <a:rPr lang="en-US" sz="1100" dirty="0">
                <a:solidFill>
                  <a:srgbClr val="384653"/>
                </a:solidFill>
                <a:latin typeface="Host Grotesk Medium" pitchFamily="34" charset="0"/>
                <a:ea typeface="Host Grotesk Medium" pitchFamily="34" charset="-122"/>
                <a:cs typeface="Host Grotesk Medium" pitchFamily="34" charset="-120"/>
              </a:rPr>
              <a:t>Sensing</a:t>
            </a:r>
            <a:endParaRPr lang="en-US" sz="1100" dirty="0"/>
          </a:p>
        </p:txBody>
      </p:sp>
      <p:sp>
        <p:nvSpPr>
          <p:cNvPr id="10" name="Text 7"/>
          <p:cNvSpPr/>
          <p:nvPr/>
        </p:nvSpPr>
        <p:spPr>
          <a:xfrm>
            <a:off x="4735488" y="3610645"/>
            <a:ext cx="3794224" cy="153070"/>
          </a:xfrm>
          <a:prstGeom prst="rect">
            <a:avLst/>
          </a:prstGeom>
          <a:noFill/>
          <a:ln/>
        </p:spPr>
        <p:txBody>
          <a:bodyPr wrap="none" lIns="0" tIns="0" rIns="0" bIns="0" rtlCol="0" anchor="t"/>
          <a:lstStyle/>
          <a:p>
            <a:pPr marL="0" indent="0" algn="l">
              <a:lnSpc>
                <a:spcPct val="112000"/>
              </a:lnSpc>
              <a:buNone/>
            </a:pPr>
            <a:r>
              <a:rPr lang="en-US" sz="850" dirty="0">
                <a:solidFill>
                  <a:srgbClr val="384653"/>
                </a:solidFill>
                <a:latin typeface="Roboto" pitchFamily="34" charset="0"/>
                <a:ea typeface="Roboto" pitchFamily="34" charset="-122"/>
                <a:cs typeface="Roboto" pitchFamily="34" charset="-120"/>
              </a:rPr>
              <a:t>OV2640 camera feeding live frames to the ML inference engine</a:t>
            </a:r>
            <a:endParaRPr lang="en-US" sz="850" dirty="0"/>
          </a:p>
        </p:txBody>
      </p:sp>
      <p:sp>
        <p:nvSpPr>
          <p:cNvPr id="11" name="Shape 8"/>
          <p:cNvSpPr/>
          <p:nvPr/>
        </p:nvSpPr>
        <p:spPr>
          <a:xfrm>
            <a:off x="496119" y="3972595"/>
            <a:ext cx="4030489" cy="620985"/>
          </a:xfrm>
          <a:prstGeom prst="roundRect">
            <a:avLst>
              <a:gd name="adj" fmla="val 7671"/>
            </a:avLst>
          </a:prstGeom>
          <a:solidFill>
            <a:srgbClr val="D9EDF2"/>
          </a:solidFill>
          <a:ln w="4763">
            <a:solidFill>
              <a:srgbClr val="BFD3D8"/>
            </a:solidFill>
            <a:prstDash val="solid"/>
          </a:ln>
        </p:spPr>
      </p:sp>
      <p:sp>
        <p:nvSpPr>
          <p:cNvPr id="12" name="Text 9"/>
          <p:cNvSpPr/>
          <p:nvPr/>
        </p:nvSpPr>
        <p:spPr>
          <a:xfrm>
            <a:off x="614288" y="4090764"/>
            <a:ext cx="1417662" cy="177180"/>
          </a:xfrm>
          <a:prstGeom prst="rect">
            <a:avLst/>
          </a:prstGeom>
          <a:noFill/>
          <a:ln/>
        </p:spPr>
        <p:txBody>
          <a:bodyPr wrap="none" lIns="0" tIns="0" rIns="0" bIns="0" rtlCol="0" anchor="t"/>
          <a:lstStyle/>
          <a:p>
            <a:pPr marL="0" indent="0" algn="l">
              <a:lnSpc>
                <a:spcPct val="104000"/>
              </a:lnSpc>
              <a:buNone/>
            </a:pPr>
            <a:r>
              <a:rPr lang="en-US" sz="1100" dirty="0">
                <a:solidFill>
                  <a:srgbClr val="384653"/>
                </a:solidFill>
                <a:latin typeface="Host Grotesk Medium" pitchFamily="34" charset="0"/>
                <a:ea typeface="Host Grotesk Medium" pitchFamily="34" charset="-122"/>
                <a:cs typeface="Host Grotesk Medium" pitchFamily="34" charset="-120"/>
              </a:rPr>
              <a:t>Intelligence</a:t>
            </a:r>
            <a:endParaRPr lang="en-US" sz="1100" dirty="0"/>
          </a:p>
        </p:txBody>
      </p:sp>
      <p:sp>
        <p:nvSpPr>
          <p:cNvPr id="13" name="Text 10"/>
          <p:cNvSpPr/>
          <p:nvPr/>
        </p:nvSpPr>
        <p:spPr>
          <a:xfrm>
            <a:off x="614288" y="4322341"/>
            <a:ext cx="3794150" cy="153070"/>
          </a:xfrm>
          <a:prstGeom prst="rect">
            <a:avLst/>
          </a:prstGeom>
          <a:noFill/>
          <a:ln/>
        </p:spPr>
        <p:txBody>
          <a:bodyPr wrap="none" lIns="0" tIns="0" rIns="0" bIns="0" rtlCol="0" anchor="t"/>
          <a:lstStyle/>
          <a:p>
            <a:pPr marL="0" indent="0" algn="l">
              <a:lnSpc>
                <a:spcPct val="112000"/>
              </a:lnSpc>
              <a:buNone/>
            </a:pPr>
            <a:r>
              <a:rPr lang="en-US" sz="850" dirty="0">
                <a:solidFill>
                  <a:srgbClr val="384653"/>
                </a:solidFill>
                <a:latin typeface="Roboto" pitchFamily="34" charset="0"/>
                <a:ea typeface="Roboto" pitchFamily="34" charset="-122"/>
                <a:cs typeface="Roboto" pitchFamily="34" charset="-120"/>
              </a:rPr>
              <a:t>CNN-based crack detection model deployed on-edge via ESP32</a:t>
            </a:r>
            <a:endParaRPr lang="en-US" sz="850" dirty="0"/>
          </a:p>
        </p:txBody>
      </p:sp>
      <p:sp>
        <p:nvSpPr>
          <p:cNvPr id="14" name="Shape 11"/>
          <p:cNvSpPr/>
          <p:nvPr/>
        </p:nvSpPr>
        <p:spPr>
          <a:xfrm>
            <a:off x="4617318" y="3972595"/>
            <a:ext cx="4030563" cy="620985"/>
          </a:xfrm>
          <a:prstGeom prst="roundRect">
            <a:avLst>
              <a:gd name="adj" fmla="val 7671"/>
            </a:avLst>
          </a:prstGeom>
          <a:solidFill>
            <a:srgbClr val="D9EDF2"/>
          </a:solidFill>
          <a:ln w="4763">
            <a:solidFill>
              <a:srgbClr val="BFD3D8"/>
            </a:solidFill>
            <a:prstDash val="solid"/>
          </a:ln>
        </p:spPr>
      </p:sp>
      <p:sp>
        <p:nvSpPr>
          <p:cNvPr id="15" name="Text 12"/>
          <p:cNvSpPr/>
          <p:nvPr/>
        </p:nvSpPr>
        <p:spPr>
          <a:xfrm>
            <a:off x="4735488" y="4090764"/>
            <a:ext cx="1417662" cy="177180"/>
          </a:xfrm>
          <a:prstGeom prst="rect">
            <a:avLst/>
          </a:prstGeom>
          <a:noFill/>
          <a:ln/>
        </p:spPr>
        <p:txBody>
          <a:bodyPr wrap="none" lIns="0" tIns="0" rIns="0" bIns="0" rtlCol="0" anchor="t"/>
          <a:lstStyle/>
          <a:p>
            <a:pPr marL="0" indent="0" algn="l">
              <a:lnSpc>
                <a:spcPct val="104000"/>
              </a:lnSpc>
              <a:buNone/>
            </a:pPr>
            <a:r>
              <a:rPr lang="en-US" sz="1100" dirty="0">
                <a:solidFill>
                  <a:srgbClr val="384653"/>
                </a:solidFill>
                <a:latin typeface="Host Grotesk Medium" pitchFamily="34" charset="0"/>
                <a:ea typeface="Host Grotesk Medium" pitchFamily="34" charset="-122"/>
                <a:cs typeface="Host Grotesk Medium" pitchFamily="34" charset="-120"/>
              </a:rPr>
              <a:t>Validation</a:t>
            </a:r>
            <a:endParaRPr lang="en-US" sz="1100" dirty="0"/>
          </a:p>
        </p:txBody>
      </p:sp>
      <p:sp>
        <p:nvSpPr>
          <p:cNvPr id="16" name="Text 13"/>
          <p:cNvSpPr/>
          <p:nvPr/>
        </p:nvSpPr>
        <p:spPr>
          <a:xfrm>
            <a:off x="4735488" y="4322341"/>
            <a:ext cx="3794224" cy="153070"/>
          </a:xfrm>
          <a:prstGeom prst="rect">
            <a:avLst/>
          </a:prstGeom>
          <a:noFill/>
          <a:ln/>
        </p:spPr>
        <p:txBody>
          <a:bodyPr wrap="none" lIns="0" tIns="0" rIns="0" bIns="0" rtlCol="0" anchor="t"/>
          <a:lstStyle/>
          <a:p>
            <a:pPr marL="0" indent="0" algn="l">
              <a:lnSpc>
                <a:spcPct val="112000"/>
              </a:lnSpc>
              <a:buNone/>
            </a:pPr>
            <a:r>
              <a:rPr lang="en-US" sz="850" dirty="0">
                <a:solidFill>
                  <a:srgbClr val="384653"/>
                </a:solidFill>
                <a:latin typeface="Roboto" pitchFamily="34" charset="0"/>
                <a:ea typeface="Roboto" pitchFamily="34" charset="-122"/>
                <a:cs typeface="Roboto" pitchFamily="34" charset="-120"/>
              </a:rPr>
              <a:t>CFD analysis performed on the CAD model for aerodynamic verification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600450" cy="5143500"/>
          </a:xfrm>
          <a:prstGeom prst="rect">
            <a:avLst/>
          </a:prstGeom>
        </p:spPr>
      </p:pic>
      <p:sp>
        <p:nvSpPr>
          <p:cNvPr id="3" name="Text 0"/>
          <p:cNvSpPr/>
          <p:nvPr/>
        </p:nvSpPr>
        <p:spPr>
          <a:xfrm>
            <a:off x="3917379" y="434206"/>
            <a:ext cx="3597101" cy="392534"/>
          </a:xfrm>
          <a:prstGeom prst="rect">
            <a:avLst/>
          </a:prstGeom>
          <a:noFill/>
          <a:ln/>
        </p:spPr>
        <p:txBody>
          <a:bodyPr wrap="none" lIns="0" tIns="0" rIns="0" bIns="0" rtlCol="0" anchor="t"/>
          <a:lstStyle/>
          <a:p>
            <a:pPr marL="0" indent="0" algn="l">
              <a:lnSpc>
                <a:spcPct val="104000"/>
              </a:lnSpc>
              <a:buNone/>
            </a:pPr>
            <a:r>
              <a:rPr lang="en-US" sz="2450" dirty="0">
                <a:solidFill>
                  <a:srgbClr val="2E3C4E"/>
                </a:solidFill>
                <a:latin typeface="Host Grotesk Medium" pitchFamily="34" charset="0"/>
                <a:ea typeface="Host Grotesk Medium" pitchFamily="34" charset="-122"/>
                <a:cs typeface="Host Grotesk Medium" pitchFamily="34" charset="-120"/>
              </a:rPr>
              <a:t>Introduction</a:t>
            </a:r>
            <a:endParaRPr lang="en-US" sz="2450" dirty="0"/>
          </a:p>
        </p:txBody>
      </p:sp>
      <p:sp>
        <p:nvSpPr>
          <p:cNvPr id="4" name="Text 1"/>
          <p:cNvSpPr/>
          <p:nvPr/>
        </p:nvSpPr>
        <p:spPr>
          <a:xfrm>
            <a:off x="3917379" y="993577"/>
            <a:ext cx="4738241" cy="888132"/>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384653"/>
                </a:solidFill>
                <a:latin typeface="Roboto" pitchFamily="34" charset="0"/>
                <a:ea typeface="Roboto" pitchFamily="34" charset="-122"/>
                <a:cs typeface="Roboto" pitchFamily="34" charset="-120"/>
              </a:rPr>
              <a:t>Manual inspection of structural surfaces is hazardous, expensive, and time-consuming. Drones equipped with intelligent vision systems offer a safer, faster, and scalable alternative for infrastructure health monitoring. By combining real-time imaging with on-device inference, this approach helps teams identify defects earlier and prioritize repairs more efficiently.</a:t>
            </a:r>
            <a:endParaRPr lang="en-US" sz="95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64484" y="2010705"/>
            <a:ext cx="188342" cy="188342"/>
          </a:xfrm>
          <a:prstGeom prst="rect">
            <a:avLst/>
          </a:prstGeom>
        </p:spPr>
      </p:pic>
      <p:sp>
        <p:nvSpPr>
          <p:cNvPr id="6" name="Text 2"/>
          <p:cNvSpPr/>
          <p:nvPr/>
        </p:nvSpPr>
        <p:spPr>
          <a:xfrm>
            <a:off x="4325466" y="2006873"/>
            <a:ext cx="1569913" cy="196230"/>
          </a:xfrm>
          <a:prstGeom prst="rect">
            <a:avLst/>
          </a:prstGeom>
          <a:noFill/>
          <a:ln/>
        </p:spPr>
        <p:txBody>
          <a:bodyPr wrap="none" lIns="0" tIns="0" rIns="0" bIns="0" rtlCol="0" anchor="t"/>
          <a:lstStyle/>
          <a:p>
            <a:pPr marL="0" indent="0" algn="l">
              <a:lnSpc>
                <a:spcPct val="104000"/>
              </a:lnSpc>
              <a:buNone/>
            </a:pPr>
            <a:r>
              <a:rPr lang="en-US" sz="1200" dirty="0">
                <a:solidFill>
                  <a:srgbClr val="384653"/>
                </a:solidFill>
                <a:latin typeface="Host Grotesk Medium" pitchFamily="34" charset="0"/>
                <a:ea typeface="Host Grotesk Medium" pitchFamily="34" charset="-122"/>
                <a:cs typeface="Host Grotesk Medium" pitchFamily="34" charset="-120"/>
              </a:rPr>
              <a:t>The Challenge</a:t>
            </a:r>
            <a:endParaRPr lang="en-US" sz="1200" dirty="0"/>
          </a:p>
        </p:txBody>
      </p:sp>
      <p:sp>
        <p:nvSpPr>
          <p:cNvPr id="7" name="Text 3"/>
          <p:cNvSpPr/>
          <p:nvPr/>
        </p:nvSpPr>
        <p:spPr>
          <a:xfrm>
            <a:off x="4325466" y="2269852"/>
            <a:ext cx="1891457" cy="1421011"/>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384653"/>
                </a:solidFill>
                <a:latin typeface="Roboto" pitchFamily="34" charset="0"/>
                <a:ea typeface="Roboto" pitchFamily="34" charset="-122"/>
                <a:cs typeface="Roboto" pitchFamily="34" charset="-120"/>
              </a:rPr>
              <a:t>Cracks in walls, bridges, and roads are early indicators of structural failure — often missed until costly damage occurs. Large assets also make repeated manual inspection impractical, especially in high-risk or hard-to-reach areas.</a:t>
            </a:r>
            <a:endParaRPr lang="en-US" sz="950" dirty="0"/>
          </a:p>
        </p:txBody>
      </p:sp>
      <p:pic>
        <p:nvPicPr>
          <p:cNvPr id="8"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03107" y="2010705"/>
            <a:ext cx="188342" cy="188342"/>
          </a:xfrm>
          <a:prstGeom prst="rect">
            <a:avLst/>
          </a:prstGeom>
        </p:spPr>
      </p:pic>
      <p:sp>
        <p:nvSpPr>
          <p:cNvPr id="9" name="Text 4"/>
          <p:cNvSpPr/>
          <p:nvPr/>
        </p:nvSpPr>
        <p:spPr>
          <a:xfrm>
            <a:off x="6764089" y="2006873"/>
            <a:ext cx="1569913" cy="196230"/>
          </a:xfrm>
          <a:prstGeom prst="rect">
            <a:avLst/>
          </a:prstGeom>
          <a:noFill/>
          <a:ln/>
        </p:spPr>
        <p:txBody>
          <a:bodyPr wrap="none" lIns="0" tIns="0" rIns="0" bIns="0" rtlCol="0" anchor="t"/>
          <a:lstStyle/>
          <a:p>
            <a:pPr marL="0" indent="0" algn="l">
              <a:lnSpc>
                <a:spcPct val="104000"/>
              </a:lnSpc>
              <a:buNone/>
            </a:pPr>
            <a:r>
              <a:rPr lang="en-US" sz="1200" dirty="0">
                <a:solidFill>
                  <a:srgbClr val="384653"/>
                </a:solidFill>
                <a:latin typeface="Host Grotesk Medium" pitchFamily="34" charset="0"/>
                <a:ea typeface="Host Grotesk Medium" pitchFamily="34" charset="-122"/>
                <a:cs typeface="Host Grotesk Medium" pitchFamily="34" charset="-120"/>
              </a:rPr>
              <a:t>The Approach</a:t>
            </a:r>
            <a:endParaRPr lang="en-US" sz="1200" dirty="0"/>
          </a:p>
        </p:txBody>
      </p:sp>
      <p:sp>
        <p:nvSpPr>
          <p:cNvPr id="10" name="Text 5"/>
          <p:cNvSpPr/>
          <p:nvPr/>
        </p:nvSpPr>
        <p:spPr>
          <a:xfrm>
            <a:off x="6764089" y="2269852"/>
            <a:ext cx="1891531" cy="1243385"/>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384653"/>
                </a:solidFill>
                <a:latin typeface="Roboto" pitchFamily="34" charset="0"/>
                <a:ea typeface="Roboto" pitchFamily="34" charset="-122"/>
                <a:cs typeface="Roboto" pitchFamily="34" charset="-120"/>
              </a:rPr>
              <a:t>An ESP32-CAM-powered drone autonomously captures and analyzes surface imagery using a machine learning crack-detection model. This enables rapid, contact-free inspection with minimal human intervention.</a:t>
            </a:r>
            <a:endParaRPr lang="en-US" sz="950" dirty="0"/>
          </a:p>
        </p:txBody>
      </p:sp>
      <p:pic>
        <p:nvPicPr>
          <p:cNvPr id="11"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64484" y="3917193"/>
            <a:ext cx="188342" cy="188342"/>
          </a:xfrm>
          <a:prstGeom prst="rect">
            <a:avLst/>
          </a:prstGeom>
        </p:spPr>
      </p:pic>
      <p:sp>
        <p:nvSpPr>
          <p:cNvPr id="12" name="Text 6"/>
          <p:cNvSpPr/>
          <p:nvPr/>
        </p:nvSpPr>
        <p:spPr>
          <a:xfrm>
            <a:off x="4325466" y="3913361"/>
            <a:ext cx="1569913" cy="196230"/>
          </a:xfrm>
          <a:prstGeom prst="rect">
            <a:avLst/>
          </a:prstGeom>
          <a:noFill/>
          <a:ln/>
        </p:spPr>
        <p:txBody>
          <a:bodyPr wrap="none" lIns="0" tIns="0" rIns="0" bIns="0" rtlCol="0" anchor="t"/>
          <a:lstStyle/>
          <a:p>
            <a:pPr marL="0" indent="0" algn="l">
              <a:lnSpc>
                <a:spcPct val="104000"/>
              </a:lnSpc>
              <a:buNone/>
            </a:pPr>
            <a:r>
              <a:rPr lang="en-US" sz="1200" dirty="0">
                <a:solidFill>
                  <a:srgbClr val="384653"/>
                </a:solidFill>
                <a:latin typeface="Host Grotesk Medium" pitchFamily="34" charset="0"/>
                <a:ea typeface="Host Grotesk Medium" pitchFamily="34" charset="-122"/>
                <a:cs typeface="Host Grotesk Medium" pitchFamily="34" charset="-120"/>
              </a:rPr>
              <a:t>The Impact</a:t>
            </a:r>
            <a:endParaRPr lang="en-US" sz="1200" dirty="0"/>
          </a:p>
        </p:txBody>
      </p:sp>
      <p:sp>
        <p:nvSpPr>
          <p:cNvPr id="13" name="Text 7"/>
          <p:cNvSpPr/>
          <p:nvPr/>
        </p:nvSpPr>
        <p:spPr>
          <a:xfrm>
            <a:off x="4325466" y="4176340"/>
            <a:ext cx="4330154" cy="532879"/>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384653"/>
                </a:solidFill>
                <a:latin typeface="Roboto" pitchFamily="34" charset="0"/>
                <a:ea typeface="Roboto" pitchFamily="34" charset="-122"/>
                <a:cs typeface="Roboto" pitchFamily="34" charset="-120"/>
              </a:rPr>
              <a:t>Reduces human risk during inspections, lowers operational costs, and enables rapid assessment of large or inaccessible structures. It also supports more consistent monitoring and faster maintenance decisions.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619348"/>
            <a:ext cx="633859" cy="183356"/>
          </a:xfrm>
          <a:prstGeom prst="rect">
            <a:avLst/>
          </a:prstGeom>
        </p:spPr>
      </p:pic>
      <p:sp>
        <p:nvSpPr>
          <p:cNvPr id="3" name="Text 0"/>
          <p:cNvSpPr/>
          <p:nvPr/>
        </p:nvSpPr>
        <p:spPr>
          <a:xfrm>
            <a:off x="1516410" y="604986"/>
            <a:ext cx="6739682" cy="398711"/>
          </a:xfrm>
          <a:prstGeom prst="rect">
            <a:avLst/>
          </a:prstGeom>
          <a:noFill/>
          <a:ln/>
        </p:spPr>
        <p:txBody>
          <a:bodyPr wrap="none" lIns="0" tIns="0" rIns="0" bIns="0" rtlCol="0" anchor="t"/>
          <a:lstStyle/>
          <a:p>
            <a:pPr marL="0" indent="0" algn="l">
              <a:lnSpc>
                <a:spcPct val="104000"/>
              </a:lnSpc>
              <a:buNone/>
            </a:pPr>
            <a:r>
              <a:rPr lang="en-US" sz="2500" dirty="0">
                <a:solidFill>
                  <a:srgbClr val="2E3C4E"/>
                </a:solidFill>
                <a:latin typeface="Host Grotesk Medium" pitchFamily="34" charset="0"/>
                <a:ea typeface="Host Grotesk Medium" pitchFamily="34" charset="-122"/>
                <a:cs typeface="Host Grotesk Medium" pitchFamily="34" charset="-120"/>
              </a:rPr>
              <a:t>Problem Definition, Motivation &amp; Objectives</a:t>
            </a:r>
            <a:endParaRPr lang="en-US" sz="2500" dirty="0"/>
          </a:p>
        </p:txBody>
      </p:sp>
      <p:sp>
        <p:nvSpPr>
          <p:cNvPr id="4" name="Text 1"/>
          <p:cNvSpPr/>
          <p:nvPr/>
        </p:nvSpPr>
        <p:spPr>
          <a:xfrm>
            <a:off x="1516410" y="1118518"/>
            <a:ext cx="7136160" cy="1194048"/>
          </a:xfrm>
          <a:prstGeom prst="rect">
            <a:avLst/>
          </a:prstGeom>
          <a:noFill/>
          <a:ln/>
        </p:spPr>
        <p:txBody>
          <a:bodyPr wrap="square" lIns="0" tIns="0" rIns="0" bIns="0" rtlCol="0" anchor="t">
            <a:normAutofit/>
          </a:bodyPr>
          <a:lstStyle/>
          <a:p>
            <a:pPr marL="0" indent="0" algn="l">
              <a:lnSpc>
                <a:spcPct val="119000"/>
              </a:lnSpc>
              <a:spcAft>
                <a:spcPts val="800"/>
              </a:spcAft>
              <a:buNone/>
            </a:pPr>
            <a:r>
              <a:rPr lang="en-US" sz="1000" dirty="0">
                <a:solidFill>
                  <a:srgbClr val="384653"/>
                </a:solidFill>
                <a:latin typeface="Roboto" pitchFamily="34" charset="0"/>
                <a:ea typeface="Roboto" pitchFamily="34" charset="-122"/>
                <a:cs typeface="Roboto" pitchFamily="34" charset="-120"/>
              </a:rPr>
              <a:t>Structural inspection is essential for maintaining the safety and reliability of walls, roads, bridges, and other civil assets. However, current methods often depend on manual surveys, visual judgment, or costly LiDAR-based systems, which can be difficult to deploy regularly across large infrastructure networks.</a:t>
            </a:r>
            <a:endParaRPr lang="en-US" sz="1000" dirty="0"/>
          </a:p>
          <a:p>
            <a:pPr marL="0" indent="0" algn="l">
              <a:lnSpc>
                <a:spcPct val="119000"/>
              </a:lnSpc>
              <a:buNone/>
            </a:pPr>
            <a:r>
              <a:rPr lang="en-US" sz="1000" dirty="0">
                <a:solidFill>
                  <a:srgbClr val="384653"/>
                </a:solidFill>
                <a:latin typeface="Roboto" pitchFamily="34" charset="0"/>
                <a:ea typeface="Roboto" pitchFamily="34" charset="-122"/>
                <a:cs typeface="Roboto" pitchFamily="34" charset="-120"/>
              </a:rPr>
              <a:t>These approaches are often slow, labor-intensive, and inconsistent, especially in environments that are elevated, congested, or difficult to access. As a result, cracks and surface defects may go unnoticed until they become more severe, increasing repair costs and safety risks.</a:t>
            </a:r>
            <a:endParaRPr lang="en-US" sz="1000" dirty="0"/>
          </a:p>
        </p:txBody>
      </p:sp>
      <p:sp>
        <p:nvSpPr>
          <p:cNvPr id="5" name="Shape 2"/>
          <p:cNvSpPr/>
          <p:nvPr/>
        </p:nvSpPr>
        <p:spPr>
          <a:xfrm>
            <a:off x="1516410" y="2441749"/>
            <a:ext cx="7136160" cy="677317"/>
          </a:xfrm>
          <a:prstGeom prst="roundRect">
            <a:avLst>
              <a:gd name="adj" fmla="val 7912"/>
            </a:avLst>
          </a:prstGeom>
          <a:solidFill>
            <a:srgbClr val="FCF2B5"/>
          </a:solidFill>
          <a:ln/>
        </p:spPr>
      </p:sp>
      <p:sp>
        <p:nvSpPr>
          <p:cNvPr id="7" name="Text 3"/>
          <p:cNvSpPr/>
          <p:nvPr/>
        </p:nvSpPr>
        <p:spPr>
          <a:xfrm>
            <a:off x="1662039" y="2549880"/>
            <a:ext cx="6594053" cy="363587"/>
          </a:xfrm>
          <a:prstGeom prst="rect">
            <a:avLst/>
          </a:prstGeom>
          <a:noFill/>
          <a:ln/>
        </p:spPr>
        <p:txBody>
          <a:bodyPr wrap="square" lIns="0" tIns="0" rIns="0" bIns="0" rtlCol="0" anchor="t">
            <a:normAutofit/>
          </a:bodyPr>
          <a:lstStyle/>
          <a:p>
            <a:pPr marL="0" indent="0" algn="l">
              <a:lnSpc>
                <a:spcPct val="119000"/>
              </a:lnSpc>
              <a:buNone/>
            </a:pPr>
            <a:r>
              <a:rPr lang="en-US" sz="1000" dirty="0">
                <a:solidFill>
                  <a:srgbClr val="000000"/>
                </a:solidFill>
                <a:latin typeface="Roboto" pitchFamily="34" charset="0"/>
                <a:ea typeface="Roboto" pitchFamily="34" charset="-122"/>
                <a:cs typeface="Roboto" pitchFamily="34" charset="-120"/>
              </a:rPr>
              <a:t>Undetected cracks can grow over time and lead to major structural failures — early detection is critical for public safety.</a:t>
            </a:r>
            <a:endParaRPr lang="en-US" sz="1000" dirty="0"/>
          </a:p>
        </p:txBody>
      </p:sp>
      <p:sp>
        <p:nvSpPr>
          <p:cNvPr id="8" name="Text 4"/>
          <p:cNvSpPr/>
          <p:nvPr/>
        </p:nvSpPr>
        <p:spPr>
          <a:xfrm>
            <a:off x="1516410" y="3248248"/>
            <a:ext cx="7136160" cy="1275904"/>
          </a:xfrm>
          <a:prstGeom prst="rect">
            <a:avLst/>
          </a:prstGeom>
          <a:noFill/>
          <a:ln/>
        </p:spPr>
        <p:txBody>
          <a:bodyPr wrap="square" lIns="0" tIns="0" rIns="0" bIns="0" rtlCol="0" anchor="t">
            <a:normAutofit/>
          </a:bodyPr>
          <a:lstStyle/>
          <a:p>
            <a:pPr marL="0" indent="0" algn="l">
              <a:lnSpc>
                <a:spcPct val="119000"/>
              </a:lnSpc>
              <a:buNone/>
            </a:pPr>
            <a:endParaRPr lang="en-US" sz="1000" dirty="0"/>
          </a:p>
        </p:txBody>
      </p:sp>
      <p:sp>
        <p:nvSpPr>
          <p:cNvPr id="9" name="Text 5"/>
          <p:cNvSpPr/>
          <p:nvPr/>
        </p:nvSpPr>
        <p:spPr>
          <a:xfrm>
            <a:off x="1516410" y="3248248"/>
            <a:ext cx="7136160" cy="1275904"/>
          </a:xfrm>
          <a:prstGeom prst="rect">
            <a:avLst/>
          </a:prstGeom>
          <a:noFill/>
          <a:ln/>
        </p:spPr>
        <p:txBody>
          <a:bodyPr wrap="square" lIns="0" tIns="0" rIns="0" bIns="0" rtlCol="0" anchor="t">
            <a:normAutofit/>
          </a:bodyPr>
          <a:lstStyle/>
          <a:p>
            <a:pPr marL="0" indent="0" algn="l">
              <a:lnSpc>
                <a:spcPct val="119000"/>
              </a:lnSpc>
              <a:buNone/>
            </a:pPr>
            <a:endParaRPr lang="en-US" sz="1000" dirty="0"/>
          </a:p>
        </p:txBody>
      </p:sp>
      <p:sp>
        <p:nvSpPr>
          <p:cNvPr id="10" name="Text 6"/>
          <p:cNvSpPr/>
          <p:nvPr/>
        </p:nvSpPr>
        <p:spPr>
          <a:xfrm>
            <a:off x="1516410" y="3248248"/>
            <a:ext cx="7136160" cy="1275904"/>
          </a:xfrm>
          <a:prstGeom prst="rect">
            <a:avLst/>
          </a:prstGeom>
          <a:noFill/>
          <a:ln/>
        </p:spPr>
        <p:txBody>
          <a:bodyPr wrap="square" lIns="0" tIns="0" rIns="0" bIns="0" rtlCol="0" anchor="t">
            <a:normAutofit/>
          </a:bodyPr>
          <a:lstStyle/>
          <a:p>
            <a:pPr marL="0" indent="0" algn="l">
              <a:lnSpc>
                <a:spcPct val="119000"/>
              </a:lnSpc>
              <a:buNone/>
            </a:pPr>
            <a:endParaRPr lang="en-US" sz="1000" dirty="0"/>
          </a:p>
        </p:txBody>
      </p:sp>
      <p:sp>
        <p:nvSpPr>
          <p:cNvPr id="11" name="Text 7"/>
          <p:cNvSpPr/>
          <p:nvPr/>
        </p:nvSpPr>
        <p:spPr>
          <a:xfrm>
            <a:off x="1516410" y="3248248"/>
            <a:ext cx="7136160" cy="1275904"/>
          </a:xfrm>
          <a:prstGeom prst="rect">
            <a:avLst/>
          </a:prstGeom>
          <a:noFill/>
          <a:ln/>
        </p:spPr>
        <p:txBody>
          <a:bodyPr wrap="square" lIns="0" tIns="0" rIns="0" bIns="0" rtlCol="0" anchor="t">
            <a:normAutofit/>
          </a:bodyPr>
          <a:lstStyle/>
          <a:p>
            <a:pPr marL="0" indent="0" algn="l">
              <a:lnSpc>
                <a:spcPct val="119000"/>
              </a:lnSpc>
              <a:buNone/>
            </a:pPr>
            <a:endParaRPr lang="en-US" sz="1000" dirty="0"/>
          </a:p>
        </p:txBody>
      </p:sp>
      <p:sp>
        <p:nvSpPr>
          <p:cNvPr id="12" name="Text 8"/>
          <p:cNvSpPr/>
          <p:nvPr/>
        </p:nvSpPr>
        <p:spPr>
          <a:xfrm>
            <a:off x="1516410" y="3248248"/>
            <a:ext cx="7136160" cy="1275904"/>
          </a:xfrm>
          <a:prstGeom prst="rect">
            <a:avLst/>
          </a:prstGeom>
          <a:noFill/>
          <a:ln/>
        </p:spPr>
        <p:txBody>
          <a:bodyPr wrap="square" lIns="0" tIns="0" rIns="0" bIns="0" rtlCol="0" anchor="t">
            <a:normAutofit/>
          </a:bodyPr>
          <a:lstStyle/>
          <a:p>
            <a:pPr marL="0" indent="0" algn="l">
              <a:lnSpc>
                <a:spcPct val="119000"/>
              </a:lnSpc>
              <a:buNone/>
            </a:pPr>
            <a:endParaRPr lang="en-US" sz="1000" dirty="0"/>
          </a:p>
        </p:txBody>
      </p:sp>
      <p:sp>
        <p:nvSpPr>
          <p:cNvPr id="13" name="Text 9"/>
          <p:cNvSpPr/>
          <p:nvPr/>
        </p:nvSpPr>
        <p:spPr>
          <a:xfrm>
            <a:off x="1516410" y="3248248"/>
            <a:ext cx="7136160" cy="1275904"/>
          </a:xfrm>
          <a:prstGeom prst="rect">
            <a:avLst/>
          </a:prstGeom>
          <a:noFill/>
          <a:ln/>
        </p:spPr>
        <p:txBody>
          <a:bodyPr wrap="square" lIns="0" tIns="0" rIns="0" bIns="0" rtlCol="0" anchor="t">
            <a:normAutofit/>
          </a:bodyPr>
          <a:lstStyle/>
          <a:p>
            <a:pPr marL="0" indent="0" algn="l">
              <a:lnSpc>
                <a:spcPct val="119000"/>
              </a:lnSpc>
              <a:buNone/>
            </a:pPr>
            <a:endParaRPr lang="en-US" sz="1000" dirty="0"/>
          </a:p>
        </p:txBody>
      </p:sp>
      <p:sp>
        <p:nvSpPr>
          <p:cNvPr id="14" name="Text 10"/>
          <p:cNvSpPr/>
          <p:nvPr/>
        </p:nvSpPr>
        <p:spPr>
          <a:xfrm>
            <a:off x="1516410" y="3248248"/>
            <a:ext cx="7136160" cy="1275904"/>
          </a:xfrm>
          <a:prstGeom prst="rect">
            <a:avLst/>
          </a:prstGeom>
          <a:noFill/>
          <a:ln/>
        </p:spPr>
        <p:txBody>
          <a:bodyPr wrap="square" lIns="0" tIns="0" rIns="0" bIns="0" rtlCol="0" anchor="t">
            <a:normAutofit/>
          </a:bodyPr>
          <a:lstStyle/>
          <a:p>
            <a:pPr marL="0" indent="0" algn="l">
              <a:lnSpc>
                <a:spcPct val="119000"/>
              </a:lnSpc>
              <a:buNone/>
            </a:pPr>
            <a:endParaRPr lang="en-US" sz="1000" dirty="0"/>
          </a:p>
        </p:txBody>
      </p:sp>
      <p:sp>
        <p:nvSpPr>
          <p:cNvPr id="15" name="Text 11"/>
          <p:cNvSpPr/>
          <p:nvPr/>
        </p:nvSpPr>
        <p:spPr>
          <a:xfrm>
            <a:off x="1516410" y="3248248"/>
            <a:ext cx="7136160" cy="1275904"/>
          </a:xfrm>
          <a:prstGeom prst="rect">
            <a:avLst/>
          </a:prstGeom>
          <a:noFill/>
          <a:ln/>
        </p:spPr>
        <p:txBody>
          <a:bodyPr wrap="square" lIns="0" tIns="0" rIns="0" bIns="0" rtlCol="0" anchor="t">
            <a:normAutofit/>
          </a:bodyPr>
          <a:lstStyle/>
          <a:p>
            <a:pPr marL="0" indent="0" algn="l">
              <a:lnSpc>
                <a:spcPct val="119000"/>
              </a:lnSpc>
              <a:buNone/>
            </a:pPr>
            <a:endParaRPr lang="en-US" sz="1000" dirty="0"/>
          </a:p>
        </p:txBody>
      </p:sp>
      <p:pic>
        <p:nvPicPr>
          <p:cNvPr id="16" name="Image 2" descr="preencoded.png"/>
          <p:cNvPicPr>
            <a:picLocks noChangeAspect="1"/>
          </p:cNvPicPr>
          <p:nvPr/>
        </p:nvPicPr>
        <p:blipFill>
          <a:blip r:embed="rId4"/>
          <a:stretch>
            <a:fillRect/>
          </a:stretch>
        </p:blipFill>
        <p:spPr>
          <a:xfrm>
            <a:off x="1516410" y="3248248"/>
            <a:ext cx="7136160" cy="1275904"/>
          </a:xfrm>
          <a:prstGeom prst="rect">
            <a:avLst/>
          </a:prstGeom>
        </p:spPr>
      </p:pic>
      <p:sp>
        <p:nvSpPr>
          <p:cNvPr id="17" name="Shape 2">
            <a:extLst>
              <a:ext uri="{FF2B5EF4-FFF2-40B4-BE49-F238E27FC236}">
                <a16:creationId xmlns:a16="http://schemas.microsoft.com/office/drawing/2014/main" id="{9B21666A-ED58-C09D-0F88-94A7A0D702FC}"/>
              </a:ext>
            </a:extLst>
          </p:cNvPr>
          <p:cNvSpPr/>
          <p:nvPr/>
        </p:nvSpPr>
        <p:spPr>
          <a:xfrm>
            <a:off x="1494504" y="3248248"/>
            <a:ext cx="7136160" cy="1275904"/>
          </a:xfrm>
          <a:prstGeom prst="roundRect">
            <a:avLst>
              <a:gd name="adj" fmla="val 7912"/>
            </a:avLst>
          </a:prstGeom>
          <a:solidFill>
            <a:srgbClr val="FCF2B5"/>
          </a:solidFill>
          <a:ln/>
        </p:spPr>
      </p:sp>
      <p:sp>
        <p:nvSpPr>
          <p:cNvPr id="20" name="TextBox 19">
            <a:extLst>
              <a:ext uri="{FF2B5EF4-FFF2-40B4-BE49-F238E27FC236}">
                <a16:creationId xmlns:a16="http://schemas.microsoft.com/office/drawing/2014/main" id="{7FFCD3C9-414A-2FC8-22AD-06A639AD15CD}"/>
              </a:ext>
            </a:extLst>
          </p:cNvPr>
          <p:cNvSpPr txBox="1"/>
          <p:nvPr/>
        </p:nvSpPr>
        <p:spPr>
          <a:xfrm>
            <a:off x="1570312" y="3294052"/>
            <a:ext cx="6837258" cy="1569660"/>
          </a:xfrm>
          <a:prstGeom prst="rect">
            <a:avLst/>
          </a:prstGeom>
          <a:noFill/>
        </p:spPr>
        <p:txBody>
          <a:bodyPr wrap="square" rtlCol="0">
            <a:spAutoFit/>
          </a:bodyPr>
          <a:lstStyle/>
          <a:p>
            <a:r>
              <a:rPr lang="en-US" sz="1200" b="1" dirty="0">
                <a:solidFill>
                  <a:srgbClr val="333F70"/>
                </a:solidFill>
                <a:latin typeface="Arial Rounded MT Bold" panose="020F0704030504030204" pitchFamily="34" charset="0"/>
                <a:ea typeface="Unbounded Bold" pitchFamily="34" charset="-122"/>
                <a:cs typeface="Unbounded Bold" pitchFamily="34" charset="-120"/>
              </a:rPr>
              <a:t>High Cost</a:t>
            </a:r>
            <a:endParaRPr lang="en-US" sz="1200" dirty="0">
              <a:latin typeface="Arial Rounded MT Bold" panose="020F0704030504030204" pitchFamily="34" charset="0"/>
            </a:endParaRPr>
          </a:p>
          <a:p>
            <a:r>
              <a:rPr lang="en-US" sz="1200" dirty="0">
                <a:solidFill>
                  <a:srgbClr val="333F70"/>
                </a:solidFill>
                <a:latin typeface="Arial Rounded MT Bold" panose="020F0704030504030204" pitchFamily="34" charset="0"/>
                <a:ea typeface="Open Sans" pitchFamily="34" charset="-122"/>
                <a:cs typeface="Open Sans" pitchFamily="34" charset="-120"/>
              </a:rPr>
              <a:t>Manual inspections of large infrastructure cost crores annually</a:t>
            </a:r>
            <a:endParaRPr lang="en-US" sz="1200" dirty="0">
              <a:latin typeface="Arial Rounded MT Bold" panose="020F0704030504030204" pitchFamily="34" charset="0"/>
            </a:endParaRPr>
          </a:p>
          <a:p>
            <a:r>
              <a:rPr lang="en-US" sz="1200" b="1" dirty="0">
                <a:solidFill>
                  <a:srgbClr val="333F70"/>
                </a:solidFill>
                <a:latin typeface="Arial Rounded MT Bold" panose="020F0704030504030204" pitchFamily="34" charset="0"/>
                <a:ea typeface="Unbounded Bold" pitchFamily="34" charset="-122"/>
                <a:cs typeface="Unbounded Bold" pitchFamily="34" charset="-120"/>
              </a:rPr>
              <a:t>Low Coverage</a:t>
            </a:r>
            <a:endParaRPr lang="en-US" sz="1200" dirty="0">
              <a:latin typeface="Arial Rounded MT Bold" panose="020F0704030504030204" pitchFamily="34" charset="0"/>
            </a:endParaRPr>
          </a:p>
          <a:p>
            <a:r>
              <a:rPr lang="en-US" sz="1200" dirty="0">
                <a:solidFill>
                  <a:srgbClr val="333F70"/>
                </a:solidFill>
                <a:latin typeface="Arial Rounded MT Bold" panose="020F0704030504030204" pitchFamily="34" charset="0"/>
                <a:ea typeface="Open Sans" pitchFamily="34" charset="-122"/>
                <a:cs typeface="Open Sans" pitchFamily="34" charset="-120"/>
              </a:rPr>
              <a:t>Visual methods miss sub-</a:t>
            </a:r>
            <a:r>
              <a:rPr lang="en-US" sz="1200" dirty="0" err="1">
                <a:solidFill>
                  <a:srgbClr val="333F70"/>
                </a:solidFill>
                <a:latin typeface="Arial Rounded MT Bold" panose="020F0704030504030204" pitchFamily="34" charset="0"/>
                <a:ea typeface="Open Sans" pitchFamily="34" charset="-122"/>
                <a:cs typeface="Open Sans" pitchFamily="34" charset="-120"/>
              </a:rPr>
              <a:t>millimetre</a:t>
            </a:r>
            <a:r>
              <a:rPr lang="en-US" sz="1200" dirty="0">
                <a:solidFill>
                  <a:srgbClr val="333F70"/>
                </a:solidFill>
                <a:latin typeface="Arial Rounded MT Bold" panose="020F0704030504030204" pitchFamily="34" charset="0"/>
                <a:ea typeface="Open Sans" pitchFamily="34" charset="-122"/>
                <a:cs typeface="Open Sans" pitchFamily="34" charset="-120"/>
              </a:rPr>
              <a:t> cracks in early stages</a:t>
            </a:r>
          </a:p>
          <a:p>
            <a:r>
              <a:rPr lang="en-US" sz="1200" b="1" dirty="0">
                <a:solidFill>
                  <a:srgbClr val="333F70"/>
                </a:solidFill>
                <a:latin typeface="Arial Rounded MT Bold" panose="020F0704030504030204" pitchFamily="34" charset="0"/>
                <a:ea typeface="Unbounded Bold" pitchFamily="34" charset="-122"/>
                <a:cs typeface="Unbounded Bold" pitchFamily="34" charset="-120"/>
              </a:rPr>
              <a:t>Delayed Response</a:t>
            </a:r>
            <a:endParaRPr lang="en-US" sz="1200" dirty="0">
              <a:latin typeface="Arial Rounded MT Bold" panose="020F0704030504030204" pitchFamily="34" charset="0"/>
            </a:endParaRPr>
          </a:p>
          <a:p>
            <a:r>
              <a:rPr lang="en-US" sz="1200" dirty="0">
                <a:solidFill>
                  <a:srgbClr val="333F70"/>
                </a:solidFill>
                <a:latin typeface="Arial Rounded MT Bold" panose="020F0704030504030204" pitchFamily="34" charset="0"/>
                <a:ea typeface="Open Sans" pitchFamily="34" charset="-122"/>
                <a:cs typeface="Open Sans" pitchFamily="34" charset="-120"/>
              </a:rPr>
              <a:t>Late detection leads to expensive and disruptive repairs</a:t>
            </a:r>
            <a:endParaRPr lang="en-US" sz="1200" dirty="0">
              <a:latin typeface="Arial Rounded MT Bold" panose="020F0704030504030204" pitchFamily="34" charset="0"/>
            </a:endParaRPr>
          </a:p>
          <a:p>
            <a:endParaRPr lang="en-US" sz="1200" dirty="0">
              <a:latin typeface="Arial Rounded MT Bold" panose="020F0704030504030204" pitchFamily="34" charset="0"/>
            </a:endParaRPr>
          </a:p>
          <a:p>
            <a:endParaRPr lang="en-IN" sz="1200" dirty="0">
              <a:latin typeface="Arial Rounded MT Bold" panose="020F07040305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707827"/>
            <a:ext cx="888132" cy="256877"/>
          </a:xfrm>
          <a:prstGeom prst="rect">
            <a:avLst/>
          </a:prstGeom>
        </p:spPr>
      </p:pic>
      <p:sp>
        <p:nvSpPr>
          <p:cNvPr id="3" name="Text 0"/>
          <p:cNvSpPr/>
          <p:nvPr/>
        </p:nvSpPr>
        <p:spPr>
          <a:xfrm>
            <a:off x="2011710" y="699120"/>
            <a:ext cx="2938090" cy="310083"/>
          </a:xfrm>
          <a:prstGeom prst="rect">
            <a:avLst/>
          </a:prstGeom>
          <a:noFill/>
          <a:ln/>
        </p:spPr>
        <p:txBody>
          <a:bodyPr wrap="none" lIns="0" tIns="0" rIns="0" bIns="0" rtlCol="0" anchor="t"/>
          <a:lstStyle/>
          <a:p>
            <a:pPr marL="0" indent="0" algn="l">
              <a:lnSpc>
                <a:spcPct val="104000"/>
              </a:lnSpc>
              <a:buNone/>
            </a:pPr>
            <a:r>
              <a:rPr lang="en-US" sz="1950" dirty="0">
                <a:solidFill>
                  <a:srgbClr val="2E3C4E"/>
                </a:solidFill>
                <a:latin typeface="Host Grotesk Medium" pitchFamily="34" charset="0"/>
                <a:ea typeface="Host Grotesk Medium" pitchFamily="34" charset="-122"/>
                <a:cs typeface="Host Grotesk Medium" pitchFamily="34" charset="-120"/>
              </a:rPr>
              <a:t>Literature Survey</a:t>
            </a:r>
            <a:endParaRPr lang="en-US" sz="1950" dirty="0"/>
          </a:p>
        </p:txBody>
      </p:sp>
      <p:sp>
        <p:nvSpPr>
          <p:cNvPr id="4" name="Text 1"/>
          <p:cNvSpPr/>
          <p:nvPr/>
        </p:nvSpPr>
        <p:spPr>
          <a:xfrm>
            <a:off x="2011710" y="1078632"/>
            <a:ext cx="6640860" cy="253008"/>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84653"/>
                </a:solidFill>
                <a:latin typeface="Roboto" pitchFamily="34" charset="0"/>
                <a:ea typeface="Roboto" pitchFamily="34" charset="-122"/>
                <a:cs typeface="Roboto" pitchFamily="34" charset="-120"/>
              </a:rPr>
              <a:t>Prior research establishes the feasibility of vision-based structural inspection and guides the design choices in this project. These findings support the use of lightweight edge hardware, aerial platforms, and learning-based vision methods for automated crack detection in real-world environments.</a:t>
            </a:r>
            <a:endParaRPr lang="en-US" sz="750" dirty="0"/>
          </a:p>
        </p:txBody>
      </p:sp>
      <p:sp>
        <p:nvSpPr>
          <p:cNvPr id="5" name="Shape 2"/>
          <p:cNvSpPr/>
          <p:nvPr/>
        </p:nvSpPr>
        <p:spPr>
          <a:xfrm>
            <a:off x="2011710" y="1409774"/>
            <a:ext cx="6640860" cy="704404"/>
          </a:xfrm>
          <a:prstGeom prst="roundRect">
            <a:avLst>
              <a:gd name="adj" fmla="val 9736"/>
            </a:avLst>
          </a:prstGeom>
          <a:solidFill>
            <a:srgbClr val="FAF9F5"/>
          </a:solidFill>
          <a:ln w="14288">
            <a:solidFill>
              <a:srgbClr val="BFD3D8"/>
            </a:solidFill>
            <a:prstDash val="solid"/>
          </a:ln>
        </p:spPr>
      </p:sp>
      <p:pic>
        <p:nvPicPr>
          <p:cNvPr id="6" name="Image 1" descr="preencoded.png"/>
          <p:cNvPicPr>
            <a:picLocks noChangeAspect="1"/>
          </p:cNvPicPr>
          <p:nvPr/>
        </p:nvPicPr>
        <p:blipFill>
          <a:blip r:embed="rId4"/>
          <a:stretch>
            <a:fillRect/>
          </a:stretch>
        </p:blipFill>
        <p:spPr>
          <a:xfrm>
            <a:off x="1997422" y="1409774"/>
            <a:ext cx="57150" cy="704404"/>
          </a:xfrm>
          <a:prstGeom prst="rect">
            <a:avLst/>
          </a:prstGeom>
        </p:spPr>
      </p:pic>
      <p:sp>
        <p:nvSpPr>
          <p:cNvPr id="7" name="Text 3"/>
          <p:cNvSpPr/>
          <p:nvPr/>
        </p:nvSpPr>
        <p:spPr>
          <a:xfrm>
            <a:off x="2168054" y="1523256"/>
            <a:ext cx="1615529" cy="155004"/>
          </a:xfrm>
          <a:prstGeom prst="rect">
            <a:avLst/>
          </a:prstGeom>
          <a:noFill/>
          <a:ln/>
        </p:spPr>
        <p:txBody>
          <a:bodyPr wrap="none" lIns="0" tIns="0" rIns="0" bIns="0" rtlCol="0" anchor="t"/>
          <a:lstStyle/>
          <a:p>
            <a:pPr marL="0" indent="0" algn="l">
              <a:lnSpc>
                <a:spcPct val="104000"/>
              </a:lnSpc>
              <a:buNone/>
            </a:pPr>
            <a:r>
              <a:rPr lang="en-US" sz="950" dirty="0">
                <a:solidFill>
                  <a:srgbClr val="384653"/>
                </a:solidFill>
                <a:latin typeface="Host Grotesk Medium" pitchFamily="34" charset="0"/>
                <a:ea typeface="Host Grotesk Medium" pitchFamily="34" charset="-122"/>
                <a:cs typeface="Host Grotesk Medium" pitchFamily="34" charset="-120"/>
              </a:rPr>
              <a:t>CNN-Based Crack Detection</a:t>
            </a:r>
            <a:endParaRPr lang="en-US" sz="950" dirty="0"/>
          </a:p>
        </p:txBody>
      </p:sp>
      <p:sp>
        <p:nvSpPr>
          <p:cNvPr id="8" name="Text 4"/>
          <p:cNvSpPr/>
          <p:nvPr/>
        </p:nvSpPr>
        <p:spPr>
          <a:xfrm>
            <a:off x="2168054" y="1747689"/>
            <a:ext cx="6371034" cy="253008"/>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84653"/>
                </a:solidFill>
                <a:latin typeface="Roboto" pitchFamily="34" charset="0"/>
                <a:ea typeface="Roboto" pitchFamily="34" charset="-122"/>
                <a:cs typeface="Roboto" pitchFamily="34" charset="-120"/>
              </a:rPr>
              <a:t>Studies by Zhang et al. demonstrate convolutional neural networks achieving &gt;90% accuracy in classifying surface cracks from image datasets of concrete structures. This confirms that deep learning can distinguish fine crack patterns from background texture with strong reliability.[6][7]</a:t>
            </a:r>
            <a:endParaRPr lang="en-US" sz="750" dirty="0"/>
          </a:p>
        </p:txBody>
      </p:sp>
      <p:sp>
        <p:nvSpPr>
          <p:cNvPr id="9" name="Shape 5"/>
          <p:cNvSpPr/>
          <p:nvPr/>
        </p:nvSpPr>
        <p:spPr>
          <a:xfrm>
            <a:off x="2011710" y="2183606"/>
            <a:ext cx="6640860" cy="704404"/>
          </a:xfrm>
          <a:prstGeom prst="roundRect">
            <a:avLst>
              <a:gd name="adj" fmla="val 9736"/>
            </a:avLst>
          </a:prstGeom>
          <a:solidFill>
            <a:srgbClr val="FAF9F5"/>
          </a:solidFill>
          <a:ln w="14288">
            <a:solidFill>
              <a:srgbClr val="BFD3D8"/>
            </a:solidFill>
            <a:prstDash val="solid"/>
          </a:ln>
        </p:spPr>
      </p:sp>
      <p:pic>
        <p:nvPicPr>
          <p:cNvPr id="10" name="Image 2" descr="preencoded.png"/>
          <p:cNvPicPr>
            <a:picLocks noChangeAspect="1"/>
          </p:cNvPicPr>
          <p:nvPr/>
        </p:nvPicPr>
        <p:blipFill>
          <a:blip r:embed="rId4"/>
          <a:stretch>
            <a:fillRect/>
          </a:stretch>
        </p:blipFill>
        <p:spPr>
          <a:xfrm>
            <a:off x="1997422" y="2183606"/>
            <a:ext cx="57150" cy="704404"/>
          </a:xfrm>
          <a:prstGeom prst="rect">
            <a:avLst/>
          </a:prstGeom>
        </p:spPr>
      </p:pic>
      <p:sp>
        <p:nvSpPr>
          <p:cNvPr id="11" name="Text 6"/>
          <p:cNvSpPr/>
          <p:nvPr/>
        </p:nvSpPr>
        <p:spPr>
          <a:xfrm>
            <a:off x="2168054" y="2297088"/>
            <a:ext cx="1371674" cy="155004"/>
          </a:xfrm>
          <a:prstGeom prst="rect">
            <a:avLst/>
          </a:prstGeom>
          <a:noFill/>
          <a:ln/>
        </p:spPr>
        <p:txBody>
          <a:bodyPr wrap="none" lIns="0" tIns="0" rIns="0" bIns="0" rtlCol="0" anchor="t"/>
          <a:lstStyle/>
          <a:p>
            <a:pPr marL="0" indent="0" algn="l">
              <a:lnSpc>
                <a:spcPct val="104000"/>
              </a:lnSpc>
              <a:buNone/>
            </a:pPr>
            <a:r>
              <a:rPr lang="en-US" sz="950" dirty="0">
                <a:solidFill>
                  <a:srgbClr val="384653"/>
                </a:solidFill>
                <a:latin typeface="Host Grotesk Medium" pitchFamily="34" charset="0"/>
                <a:ea typeface="Host Grotesk Medium" pitchFamily="34" charset="-122"/>
                <a:cs typeface="Host Grotesk Medium" pitchFamily="34" charset="-120"/>
              </a:rPr>
              <a:t>UAV Inspection Systems</a:t>
            </a:r>
            <a:endParaRPr lang="en-US" sz="950" dirty="0"/>
          </a:p>
        </p:txBody>
      </p:sp>
      <p:sp>
        <p:nvSpPr>
          <p:cNvPr id="12" name="Text 7"/>
          <p:cNvSpPr/>
          <p:nvPr/>
        </p:nvSpPr>
        <p:spPr>
          <a:xfrm>
            <a:off x="2168054" y="2521521"/>
            <a:ext cx="6371034" cy="253008"/>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84653"/>
                </a:solidFill>
                <a:latin typeface="Roboto" pitchFamily="34" charset="0"/>
                <a:ea typeface="Roboto" pitchFamily="34" charset="-122"/>
                <a:cs typeface="Roboto" pitchFamily="34" charset="-120"/>
              </a:rPr>
              <a:t>Research confirms that micro-UAVs with onboard cameras can access confined or elevated surfaces that are impractical for human inspectors. UAV-based inspection also improves safety by reducing the need for manual access to hazardous locations.[1][4]</a:t>
            </a:r>
            <a:endParaRPr lang="en-US" sz="750" dirty="0"/>
          </a:p>
        </p:txBody>
      </p:sp>
      <p:sp>
        <p:nvSpPr>
          <p:cNvPr id="13" name="Shape 8"/>
          <p:cNvSpPr/>
          <p:nvPr/>
        </p:nvSpPr>
        <p:spPr>
          <a:xfrm>
            <a:off x="2011710" y="2957438"/>
            <a:ext cx="6640860" cy="704404"/>
          </a:xfrm>
          <a:prstGeom prst="roundRect">
            <a:avLst>
              <a:gd name="adj" fmla="val 9736"/>
            </a:avLst>
          </a:prstGeom>
          <a:solidFill>
            <a:srgbClr val="FAF9F5"/>
          </a:solidFill>
          <a:ln w="14288">
            <a:solidFill>
              <a:srgbClr val="BFD3D8"/>
            </a:solidFill>
            <a:prstDash val="solid"/>
          </a:ln>
        </p:spPr>
      </p:sp>
      <p:pic>
        <p:nvPicPr>
          <p:cNvPr id="14" name="Image 3" descr="preencoded.png"/>
          <p:cNvPicPr>
            <a:picLocks noChangeAspect="1"/>
          </p:cNvPicPr>
          <p:nvPr/>
        </p:nvPicPr>
        <p:blipFill>
          <a:blip r:embed="rId4"/>
          <a:stretch>
            <a:fillRect/>
          </a:stretch>
        </p:blipFill>
        <p:spPr>
          <a:xfrm>
            <a:off x="1997422" y="2957438"/>
            <a:ext cx="57150" cy="704404"/>
          </a:xfrm>
          <a:prstGeom prst="rect">
            <a:avLst/>
          </a:prstGeom>
        </p:spPr>
      </p:pic>
      <p:sp>
        <p:nvSpPr>
          <p:cNvPr id="15" name="Text 9"/>
          <p:cNvSpPr/>
          <p:nvPr/>
        </p:nvSpPr>
        <p:spPr>
          <a:xfrm>
            <a:off x="2168054" y="3070920"/>
            <a:ext cx="1260723" cy="155004"/>
          </a:xfrm>
          <a:prstGeom prst="rect">
            <a:avLst/>
          </a:prstGeom>
          <a:noFill/>
          <a:ln/>
        </p:spPr>
        <p:txBody>
          <a:bodyPr wrap="none" lIns="0" tIns="0" rIns="0" bIns="0" rtlCol="0" anchor="t"/>
          <a:lstStyle/>
          <a:p>
            <a:pPr marL="0" indent="0" algn="l">
              <a:lnSpc>
                <a:spcPct val="104000"/>
              </a:lnSpc>
              <a:buNone/>
            </a:pPr>
            <a:r>
              <a:rPr lang="en-US" sz="950" dirty="0">
                <a:solidFill>
                  <a:srgbClr val="384653"/>
                </a:solidFill>
                <a:latin typeface="Host Grotesk Medium" pitchFamily="34" charset="0"/>
                <a:ea typeface="Host Grotesk Medium" pitchFamily="34" charset="-122"/>
                <a:cs typeface="Host Grotesk Medium" pitchFamily="34" charset="-120"/>
              </a:rPr>
              <a:t>ESP32 Edge Inference</a:t>
            </a:r>
            <a:endParaRPr lang="en-US" sz="950" dirty="0"/>
          </a:p>
        </p:txBody>
      </p:sp>
      <p:sp>
        <p:nvSpPr>
          <p:cNvPr id="16" name="Text 10"/>
          <p:cNvSpPr/>
          <p:nvPr/>
        </p:nvSpPr>
        <p:spPr>
          <a:xfrm>
            <a:off x="2168054" y="3295352"/>
            <a:ext cx="6371034" cy="253008"/>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84653"/>
                </a:solidFill>
                <a:latin typeface="Roboto" pitchFamily="34" charset="0"/>
                <a:ea typeface="Roboto" pitchFamily="34" charset="-122"/>
                <a:cs typeface="Roboto" pitchFamily="34" charset="-120"/>
              </a:rPr>
              <a:t>Recent work validates ESP32 microcontrollers as viable edge-inference platforms for lightweight ML models with acceptable latency for real-time applications. This makes wireless, on-device crack assessment practical for low-cost deployments.[11][12][13][14]</a:t>
            </a:r>
            <a:endParaRPr lang="en-US" sz="750" dirty="0"/>
          </a:p>
        </p:txBody>
      </p:sp>
      <p:sp>
        <p:nvSpPr>
          <p:cNvPr id="17" name="Shape 11"/>
          <p:cNvSpPr/>
          <p:nvPr/>
        </p:nvSpPr>
        <p:spPr>
          <a:xfrm>
            <a:off x="2011710" y="3731270"/>
            <a:ext cx="6640860" cy="704404"/>
          </a:xfrm>
          <a:prstGeom prst="roundRect">
            <a:avLst>
              <a:gd name="adj" fmla="val 9736"/>
            </a:avLst>
          </a:prstGeom>
          <a:solidFill>
            <a:srgbClr val="FAF9F5"/>
          </a:solidFill>
          <a:ln w="14288">
            <a:solidFill>
              <a:srgbClr val="BFD3D8"/>
            </a:solidFill>
            <a:prstDash val="solid"/>
          </a:ln>
        </p:spPr>
      </p:sp>
      <p:pic>
        <p:nvPicPr>
          <p:cNvPr id="18" name="Image 4" descr="preencoded.png"/>
          <p:cNvPicPr>
            <a:picLocks noChangeAspect="1"/>
          </p:cNvPicPr>
          <p:nvPr/>
        </p:nvPicPr>
        <p:blipFill>
          <a:blip r:embed="rId4"/>
          <a:stretch>
            <a:fillRect/>
          </a:stretch>
        </p:blipFill>
        <p:spPr>
          <a:xfrm>
            <a:off x="1997422" y="3731270"/>
            <a:ext cx="57150" cy="704404"/>
          </a:xfrm>
          <a:prstGeom prst="rect">
            <a:avLst/>
          </a:prstGeom>
        </p:spPr>
      </p:pic>
      <p:sp>
        <p:nvSpPr>
          <p:cNvPr id="19" name="Text 12"/>
          <p:cNvSpPr/>
          <p:nvPr/>
        </p:nvSpPr>
        <p:spPr>
          <a:xfrm>
            <a:off x="2168054" y="3844751"/>
            <a:ext cx="1240408" cy="155004"/>
          </a:xfrm>
          <a:prstGeom prst="rect">
            <a:avLst/>
          </a:prstGeom>
          <a:noFill/>
          <a:ln/>
        </p:spPr>
        <p:txBody>
          <a:bodyPr wrap="none" lIns="0" tIns="0" rIns="0" bIns="0" rtlCol="0" anchor="t"/>
          <a:lstStyle/>
          <a:p>
            <a:pPr marL="0" indent="0" algn="l">
              <a:lnSpc>
                <a:spcPct val="104000"/>
              </a:lnSpc>
              <a:buNone/>
            </a:pPr>
            <a:r>
              <a:rPr lang="en-US" sz="950" dirty="0">
                <a:solidFill>
                  <a:srgbClr val="384653"/>
                </a:solidFill>
                <a:latin typeface="Host Grotesk Medium" pitchFamily="34" charset="0"/>
                <a:ea typeface="Host Grotesk Medium" pitchFamily="34" charset="-122"/>
                <a:cs typeface="Host Grotesk Medium" pitchFamily="34" charset="-120"/>
              </a:rPr>
              <a:t>CFD for Drone Design</a:t>
            </a:r>
            <a:endParaRPr lang="en-US" sz="950" dirty="0"/>
          </a:p>
        </p:txBody>
      </p:sp>
      <p:sp>
        <p:nvSpPr>
          <p:cNvPr id="20" name="Text 13"/>
          <p:cNvSpPr/>
          <p:nvPr/>
        </p:nvSpPr>
        <p:spPr>
          <a:xfrm>
            <a:off x="2168054" y="4069184"/>
            <a:ext cx="6371034" cy="253008"/>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84653"/>
                </a:solidFill>
                <a:latin typeface="Roboto" pitchFamily="34" charset="0"/>
                <a:ea typeface="Roboto" pitchFamily="34" charset="-122"/>
                <a:cs typeface="Roboto" pitchFamily="34" charset="-120"/>
              </a:rPr>
              <a:t>Computational fluid dynamics studies on quadcopter frames highlight the importance of rotor placement and arm geometry in minimizing turbulence and improving flight stability. These insights inform the structural layout of the drone to support smoother inspection flights.[16][20]</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482054"/>
            <a:ext cx="1055340" cy="305246"/>
          </a:xfrm>
          <a:prstGeom prst="rect">
            <a:avLst/>
          </a:prstGeom>
        </p:spPr>
      </p:pic>
      <p:sp>
        <p:nvSpPr>
          <p:cNvPr id="3" name="Text 0"/>
          <p:cNvSpPr/>
          <p:nvPr/>
        </p:nvSpPr>
        <p:spPr>
          <a:xfrm>
            <a:off x="496119" y="891480"/>
            <a:ext cx="4576093" cy="310083"/>
          </a:xfrm>
          <a:prstGeom prst="rect">
            <a:avLst/>
          </a:prstGeom>
          <a:noFill/>
          <a:ln/>
        </p:spPr>
        <p:txBody>
          <a:bodyPr wrap="none" lIns="0" tIns="0" rIns="0" bIns="0" rtlCol="0" anchor="t"/>
          <a:lstStyle/>
          <a:p>
            <a:pPr marL="0" indent="0" algn="l">
              <a:lnSpc>
                <a:spcPct val="104000"/>
              </a:lnSpc>
              <a:buNone/>
            </a:pPr>
            <a:r>
              <a:rPr lang="en-US" sz="1950" dirty="0">
                <a:solidFill>
                  <a:srgbClr val="2E3C4E"/>
                </a:solidFill>
                <a:latin typeface="Host Grotesk Medium" pitchFamily="34" charset="0"/>
                <a:ea typeface="Host Grotesk Medium" pitchFamily="34" charset="-122"/>
                <a:cs typeface="Host Grotesk Medium" pitchFamily="34" charset="-120"/>
              </a:rPr>
              <a:t>Methodology &amp; System Architecture</a:t>
            </a:r>
            <a:endParaRPr lang="en-US" sz="1950" dirty="0"/>
          </a:p>
        </p:txBody>
      </p:sp>
      <p:sp>
        <p:nvSpPr>
          <p:cNvPr id="4" name="Text 1"/>
          <p:cNvSpPr/>
          <p:nvPr/>
        </p:nvSpPr>
        <p:spPr>
          <a:xfrm>
            <a:off x="496119" y="1305744"/>
            <a:ext cx="8151763" cy="506016"/>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84653"/>
                </a:solidFill>
                <a:latin typeface="Roboto" pitchFamily="34" charset="0"/>
                <a:ea typeface="Roboto" pitchFamily="34" charset="-122"/>
                <a:cs typeface="Roboto" pitchFamily="34" charset="-120"/>
              </a:rPr>
              <a:t>The proposed system combines aerial inspection hardware, embedded AI inference, wireless communication, and aerodynamic validation into a single workflow. The drone is built on a rigid quadcopter frame with a custom 3D-printed camera mount positioned to keep the ESP32-CAM and OV2640 sensor stable during flight while allowing both downward and forward viewing for crack capture. The embedded pipeline preprocesses images on device, applies a quantized CNN model for crack classification, and forwards only flagged frames with metadata for logging and review. This reduces bandwidth while enabling near-real-time structural screening in the field.</a:t>
            </a:r>
            <a:endParaRPr lang="en-US" sz="750" dirty="0"/>
          </a:p>
        </p:txBody>
      </p:sp>
      <p:pic>
        <p:nvPicPr>
          <p:cNvPr id="5" name="Image 1" descr="preencoded.png"/>
          <p:cNvPicPr>
            <a:picLocks noChangeAspect="1"/>
          </p:cNvPicPr>
          <p:nvPr/>
        </p:nvPicPr>
        <p:blipFill>
          <a:blip r:embed="rId4"/>
          <a:stretch>
            <a:fillRect/>
          </a:stretch>
        </p:blipFill>
        <p:spPr>
          <a:xfrm>
            <a:off x="1742405" y="1889894"/>
            <a:ext cx="5659189" cy="2440335"/>
          </a:xfrm>
          <a:prstGeom prst="rect">
            <a:avLst/>
          </a:prstGeom>
        </p:spPr>
      </p:pic>
      <p:sp>
        <p:nvSpPr>
          <p:cNvPr id="6" name="Text 2"/>
          <p:cNvSpPr/>
          <p:nvPr/>
        </p:nvSpPr>
        <p:spPr>
          <a:xfrm>
            <a:off x="2123248" y="3867450"/>
            <a:ext cx="1741059" cy="160482"/>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Host Grotesk Medium" pitchFamily="34" charset="0"/>
                <a:ea typeface="Host Grotesk Medium" pitchFamily="34" charset="-122"/>
                <a:cs typeface="Host Grotesk Medium" pitchFamily="34" charset="-120"/>
              </a:rPr>
              <a:t>CFD Validation</a:t>
            </a:r>
            <a:endParaRPr lang="en-US" sz="1000" dirty="0"/>
          </a:p>
        </p:txBody>
      </p:sp>
      <p:sp>
        <p:nvSpPr>
          <p:cNvPr id="7" name="Text 3"/>
          <p:cNvSpPr/>
          <p:nvPr/>
        </p:nvSpPr>
        <p:spPr>
          <a:xfrm>
            <a:off x="2123248" y="3302552"/>
            <a:ext cx="1741059" cy="160482"/>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Host Grotesk Medium" pitchFamily="34" charset="0"/>
                <a:ea typeface="Host Grotesk Medium" pitchFamily="34" charset="-122"/>
                <a:cs typeface="Host Grotesk Medium" pitchFamily="34" charset="-120"/>
              </a:rPr>
              <a:t>ML Crack Detection</a:t>
            </a:r>
            <a:endParaRPr lang="en-US" sz="1000" dirty="0"/>
          </a:p>
        </p:txBody>
      </p:sp>
      <p:sp>
        <p:nvSpPr>
          <p:cNvPr id="8" name="Text 4"/>
          <p:cNvSpPr/>
          <p:nvPr/>
        </p:nvSpPr>
        <p:spPr>
          <a:xfrm>
            <a:off x="2123248" y="2743360"/>
            <a:ext cx="1741059" cy="160482"/>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Host Grotesk Medium" pitchFamily="34" charset="0"/>
                <a:ea typeface="Host Grotesk Medium" pitchFamily="34" charset="-122"/>
                <a:cs typeface="Host Grotesk Medium" pitchFamily="34" charset="-120"/>
              </a:rPr>
              <a:t>Data Transmission</a:t>
            </a:r>
            <a:endParaRPr lang="en-US" sz="1000" dirty="0"/>
          </a:p>
        </p:txBody>
      </p:sp>
      <p:sp>
        <p:nvSpPr>
          <p:cNvPr id="9" name="Text 5"/>
          <p:cNvSpPr/>
          <p:nvPr/>
        </p:nvSpPr>
        <p:spPr>
          <a:xfrm>
            <a:off x="2123248" y="2178462"/>
            <a:ext cx="1741059" cy="160483"/>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Host Grotesk Medium" pitchFamily="34" charset="0"/>
                <a:ea typeface="Host Grotesk Medium" pitchFamily="34" charset="-122"/>
                <a:cs typeface="Host Grotesk Medium" pitchFamily="34" charset="-120"/>
              </a:rPr>
              <a:t>Flight &amp; Capture</a:t>
            </a:r>
            <a:endParaRPr lang="en-US" sz="1000" dirty="0"/>
          </a:p>
        </p:txBody>
      </p:sp>
      <p:sp>
        <p:nvSpPr>
          <p:cNvPr id="10" name="Text 6"/>
          <p:cNvSpPr/>
          <p:nvPr/>
        </p:nvSpPr>
        <p:spPr>
          <a:xfrm>
            <a:off x="496119" y="4408363"/>
            <a:ext cx="8151763" cy="253008"/>
          </a:xfrm>
          <a:prstGeom prst="rect">
            <a:avLst/>
          </a:prstGeom>
          <a:noFill/>
          <a:ln/>
        </p:spPr>
        <p:txBody>
          <a:bodyPr wrap="square" lIns="0" tIns="0" rIns="0" bIns="0" rtlCol="0" anchor="t">
            <a:normAutofit/>
          </a:bodyPr>
          <a:lstStyle/>
          <a:p>
            <a:pPr marL="0" indent="0" algn="l">
              <a:lnSpc>
                <a:spcPct val="106000"/>
              </a:lnSpc>
              <a:buNone/>
            </a:pPr>
            <a:r>
              <a:rPr lang="en-US" sz="750" dirty="0">
                <a:solidFill>
                  <a:srgbClr val="384653"/>
                </a:solidFill>
                <a:latin typeface="Roboto" pitchFamily="34" charset="0"/>
                <a:ea typeface="Roboto" pitchFamily="34" charset="-122"/>
                <a:cs typeface="Roboto" pitchFamily="34" charset="-120"/>
              </a:rPr>
              <a:t>In the final design stage, the CAD model is analyzed using CFD to refine rotor spacing, minimize frame-induced drag, and improve hovering stability around inspection surfaces. Together, the hardware and simulation layers support a lightweight, low-cost autonomous inspection platform capable of reliable crack detection in real-world environments.</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1520577" y="380123"/>
            <a:ext cx="6637586" cy="442987"/>
          </a:xfrm>
          <a:prstGeom prst="rect">
            <a:avLst/>
          </a:prstGeom>
          <a:noFill/>
          <a:ln/>
        </p:spPr>
        <p:txBody>
          <a:bodyPr wrap="none" lIns="0" tIns="0" rIns="0" bIns="0" rtlCol="0" anchor="t"/>
          <a:lstStyle/>
          <a:p>
            <a:pPr marL="0" indent="0" algn="l">
              <a:lnSpc>
                <a:spcPct val="104000"/>
              </a:lnSpc>
              <a:buNone/>
            </a:pPr>
            <a:r>
              <a:rPr lang="en-US" sz="2750" dirty="0">
                <a:solidFill>
                  <a:srgbClr val="2E3C4E"/>
                </a:solidFill>
                <a:latin typeface="Host Grotesk Medium" pitchFamily="34" charset="0"/>
                <a:ea typeface="Host Grotesk Medium" pitchFamily="34" charset="-122"/>
                <a:cs typeface="Host Grotesk Medium" pitchFamily="34" charset="-120"/>
              </a:rPr>
              <a:t>CFD Analysis of the Drone CAD Model</a:t>
            </a:r>
            <a:endParaRPr lang="en-US" sz="2750" dirty="0"/>
          </a:p>
        </p:txBody>
      </p:sp>
      <p:sp>
        <p:nvSpPr>
          <p:cNvPr id="6" name="Text 1"/>
          <p:cNvSpPr/>
          <p:nvPr/>
        </p:nvSpPr>
        <p:spPr>
          <a:xfrm>
            <a:off x="2602144" y="1059059"/>
            <a:ext cx="3275020" cy="159838"/>
          </a:xfrm>
          <a:prstGeom prst="rect">
            <a:avLst/>
          </a:prstGeom>
          <a:noFill/>
          <a:ln/>
        </p:spPr>
        <p:txBody>
          <a:bodyPr wrap="none" lIns="0" tIns="0" rIns="0" bIns="0" rtlCol="0" anchor="t"/>
          <a:lstStyle/>
          <a:p>
            <a:pPr marL="0" indent="0" algn="ctr">
              <a:lnSpc>
                <a:spcPct val="104000"/>
              </a:lnSpc>
              <a:buNone/>
            </a:pPr>
            <a:r>
              <a:rPr lang="en-US" sz="1000" dirty="0">
                <a:solidFill>
                  <a:srgbClr val="2E3C4E"/>
                </a:solidFill>
                <a:latin typeface="Host Grotesk Medium" pitchFamily="34" charset="0"/>
                <a:ea typeface="Host Grotesk Medium" pitchFamily="34" charset="-122"/>
                <a:cs typeface="Host Grotesk Medium" pitchFamily="34" charset="-120"/>
              </a:rPr>
              <a:t>Simulation Setup</a:t>
            </a:r>
            <a:endParaRPr lang="en-US" sz="1000" dirty="0"/>
          </a:p>
        </p:txBody>
      </p:sp>
      <p:sp>
        <p:nvSpPr>
          <p:cNvPr id="7" name="Text 2"/>
          <p:cNvSpPr/>
          <p:nvPr/>
        </p:nvSpPr>
        <p:spPr>
          <a:xfrm>
            <a:off x="2716444" y="1208270"/>
            <a:ext cx="3046420" cy="767224"/>
          </a:xfrm>
          <a:prstGeom prst="rect">
            <a:avLst/>
          </a:prstGeom>
          <a:noFill/>
          <a:ln/>
        </p:spPr>
        <p:txBody>
          <a:bodyPr wrap="square" lIns="0" tIns="0" rIns="0" bIns="0" rtlCol="0" anchor="t">
            <a:normAutofit/>
          </a:bodyPr>
          <a:lstStyle/>
          <a:p>
            <a:pPr marL="0" indent="0" algn="ctr">
              <a:lnSpc>
                <a:spcPct val="125000"/>
              </a:lnSpc>
              <a:buNone/>
            </a:pPr>
            <a:r>
              <a:rPr lang="en-US" sz="800" dirty="0">
                <a:solidFill>
                  <a:srgbClr val="384653"/>
                </a:solidFill>
                <a:latin typeface="Roboto" pitchFamily="34" charset="0"/>
                <a:ea typeface="Roboto" pitchFamily="34" charset="-122"/>
                <a:cs typeface="Roboto" pitchFamily="34" charset="-120"/>
              </a:rPr>
              <a:t>The drone CAD model was imported into CFD software (e.g., ANSYS Fluent / SolidWorks Flow Simulation). A </a:t>
            </a:r>
            <a:r>
              <a:rPr lang="en-US" sz="800" b="1" dirty="0">
                <a:solidFill>
                  <a:srgbClr val="384653"/>
                </a:solidFill>
                <a:latin typeface="Roboto" pitchFamily="34" charset="0"/>
                <a:ea typeface="Roboto" pitchFamily="34" charset="-122"/>
                <a:cs typeface="Roboto" pitchFamily="34" charset="-120"/>
              </a:rPr>
              <a:t>k-ε turbulence model</a:t>
            </a:r>
            <a:r>
              <a:rPr lang="en-US" sz="800" dirty="0">
                <a:solidFill>
                  <a:srgbClr val="384653"/>
                </a:solidFill>
                <a:latin typeface="Roboto" pitchFamily="34" charset="0"/>
                <a:ea typeface="Roboto" pitchFamily="34" charset="-122"/>
                <a:cs typeface="Roboto" pitchFamily="34" charset="-120"/>
              </a:rPr>
              <a:t> was applied under hover and forward-flight conditions at varying airspeeds, with boundary conditions tuned to capture rotor-induced flow and recirculation zones.</a:t>
            </a:r>
            <a:endParaRPr lang="en-US" sz="800" dirty="0"/>
          </a:p>
        </p:txBody>
      </p:sp>
      <p:sp>
        <p:nvSpPr>
          <p:cNvPr id="8" name="Text 3"/>
          <p:cNvSpPr/>
          <p:nvPr/>
        </p:nvSpPr>
        <p:spPr>
          <a:xfrm>
            <a:off x="2674047" y="2132600"/>
            <a:ext cx="3275020" cy="159838"/>
          </a:xfrm>
          <a:prstGeom prst="rect">
            <a:avLst/>
          </a:prstGeom>
          <a:noFill/>
          <a:ln/>
        </p:spPr>
        <p:txBody>
          <a:bodyPr wrap="none" lIns="0" tIns="0" rIns="0" bIns="0" rtlCol="0" anchor="t"/>
          <a:lstStyle/>
          <a:p>
            <a:pPr marL="0" indent="0" algn="ctr">
              <a:lnSpc>
                <a:spcPct val="104000"/>
              </a:lnSpc>
              <a:buNone/>
            </a:pPr>
            <a:r>
              <a:rPr lang="en-US" sz="1000" dirty="0">
                <a:solidFill>
                  <a:srgbClr val="2E3C4E"/>
                </a:solidFill>
                <a:latin typeface="Host Grotesk Medium" pitchFamily="34" charset="0"/>
                <a:ea typeface="Host Grotesk Medium" pitchFamily="34" charset="-122"/>
                <a:cs typeface="Host Grotesk Medium" pitchFamily="34" charset="-120"/>
              </a:rPr>
              <a:t>Expanded Technical Parameters</a:t>
            </a:r>
            <a:endParaRPr lang="en-US" sz="1000" dirty="0"/>
          </a:p>
        </p:txBody>
      </p:sp>
      <p:sp>
        <p:nvSpPr>
          <p:cNvPr id="9" name="Text 4"/>
          <p:cNvSpPr/>
          <p:nvPr/>
        </p:nvSpPr>
        <p:spPr>
          <a:xfrm>
            <a:off x="2622666" y="2278963"/>
            <a:ext cx="3046420" cy="1677504"/>
          </a:xfrm>
          <a:prstGeom prst="rect">
            <a:avLst/>
          </a:prstGeom>
          <a:noFill/>
          <a:ln/>
        </p:spPr>
        <p:txBody>
          <a:bodyPr wrap="square" lIns="0" tIns="0" rIns="0" bIns="0" rtlCol="0" anchor="t">
            <a:noAutofit/>
          </a:bodyPr>
          <a:lstStyle/>
          <a:p>
            <a:pPr marL="342900" indent="-342900" algn="l">
              <a:lnSpc>
                <a:spcPct val="125000"/>
              </a:lnSpc>
              <a:buSzPct val="100000"/>
              <a:buChar char="•"/>
            </a:pPr>
            <a:r>
              <a:rPr lang="en-US" sz="900" dirty="0">
                <a:solidFill>
                  <a:srgbClr val="384653"/>
                </a:solidFill>
                <a:latin typeface="Roboto" pitchFamily="34" charset="0"/>
                <a:ea typeface="Roboto" pitchFamily="34" charset="-122"/>
                <a:cs typeface="Roboto" pitchFamily="34" charset="-120"/>
              </a:rPr>
              <a:t>Mesh refinement around rotor hubs, arm junctions, and the camera enclosure</a:t>
            </a:r>
            <a:endParaRPr lang="en-US" sz="900" dirty="0"/>
          </a:p>
          <a:p>
            <a:pPr marL="342900" indent="-342900" algn="l">
              <a:lnSpc>
                <a:spcPct val="125000"/>
              </a:lnSpc>
              <a:buSzPct val="100000"/>
              <a:buChar char="•"/>
            </a:pPr>
            <a:r>
              <a:rPr lang="en-US" sz="900" dirty="0">
                <a:solidFill>
                  <a:srgbClr val="384653"/>
                </a:solidFill>
                <a:latin typeface="Roboto" pitchFamily="34" charset="0"/>
                <a:ea typeface="Roboto" pitchFamily="34" charset="-122"/>
                <a:cs typeface="Roboto" pitchFamily="34" charset="-120"/>
              </a:rPr>
              <a:t>Steady-state and transient runs to compare wake evolution and flow stability</a:t>
            </a:r>
            <a:endParaRPr lang="en-US" sz="900" dirty="0"/>
          </a:p>
          <a:p>
            <a:pPr marL="342900" indent="-342900" algn="l">
              <a:lnSpc>
                <a:spcPct val="125000"/>
              </a:lnSpc>
              <a:buSzPct val="100000"/>
              <a:buChar char="•"/>
            </a:pPr>
            <a:r>
              <a:rPr lang="en-US" sz="900" dirty="0">
                <a:solidFill>
                  <a:srgbClr val="384653"/>
                </a:solidFill>
                <a:latin typeface="Roboto" pitchFamily="34" charset="0"/>
                <a:ea typeface="Roboto" pitchFamily="34" charset="-122"/>
                <a:cs typeface="Roboto" pitchFamily="34" charset="-120"/>
              </a:rPr>
              <a:t>Inlet velocity sweep across hover, low-speed cruise, and higher forward-flight cases</a:t>
            </a:r>
            <a:endParaRPr lang="en-US" sz="900" dirty="0"/>
          </a:p>
          <a:p>
            <a:pPr marL="342900" indent="-342900" algn="l">
              <a:lnSpc>
                <a:spcPct val="125000"/>
              </a:lnSpc>
              <a:buSzPct val="100000"/>
              <a:buChar char="•"/>
            </a:pPr>
            <a:r>
              <a:rPr lang="en-US" sz="900" dirty="0">
                <a:solidFill>
                  <a:srgbClr val="384653"/>
                </a:solidFill>
                <a:latin typeface="Roboto" pitchFamily="34" charset="0"/>
                <a:ea typeface="Roboto" pitchFamily="34" charset="-122"/>
                <a:cs typeface="Roboto" pitchFamily="34" charset="-120"/>
              </a:rPr>
              <a:t>Wall treatment and near-wall inflation layers to resolve boundary-layer effects</a:t>
            </a:r>
            <a:endParaRPr lang="en-US" sz="900" dirty="0"/>
          </a:p>
          <a:p>
            <a:pPr marL="342900" indent="-342900" algn="l">
              <a:lnSpc>
                <a:spcPct val="125000"/>
              </a:lnSpc>
              <a:buSzPct val="100000"/>
              <a:buChar char="•"/>
            </a:pPr>
            <a:r>
              <a:rPr lang="en-US" sz="900" dirty="0">
                <a:solidFill>
                  <a:srgbClr val="384653"/>
                </a:solidFill>
                <a:latin typeface="Roboto" pitchFamily="34" charset="0"/>
                <a:ea typeface="Roboto" pitchFamily="34" charset="-122"/>
                <a:cs typeface="Roboto" pitchFamily="34" charset="-120"/>
              </a:rPr>
              <a:t>Monitoring of residual convergence, force coefficients, and pressure probes</a:t>
            </a:r>
            <a:endParaRPr lang="en-US" sz="900" dirty="0"/>
          </a:p>
        </p:txBody>
      </p:sp>
      <p:sp>
        <p:nvSpPr>
          <p:cNvPr id="10" name="Shape 5"/>
          <p:cNvSpPr/>
          <p:nvPr/>
        </p:nvSpPr>
        <p:spPr>
          <a:xfrm>
            <a:off x="2788347" y="4198362"/>
            <a:ext cx="3046420" cy="690502"/>
          </a:xfrm>
          <a:prstGeom prst="roundRect">
            <a:avLst>
              <a:gd name="adj" fmla="val 4635"/>
            </a:avLst>
          </a:prstGeom>
          <a:solidFill>
            <a:srgbClr val="B6D6FC"/>
          </a:solidFill>
          <a:ln/>
        </p:spPr>
        <p:txBody>
          <a:bodyPr/>
          <a:lstStyle/>
          <a:p>
            <a:endParaRPr lang="en-IN" dirty="0"/>
          </a:p>
        </p:txBody>
      </p:sp>
      <p:pic>
        <p:nvPicPr>
          <p:cNvPr id="11" name="Image 3" descr="preencoded.png"/>
          <p:cNvPicPr>
            <a:picLocks noChangeAspect="1"/>
          </p:cNvPicPr>
          <p:nvPr/>
        </p:nvPicPr>
        <p:blipFill>
          <a:blip r:embed="rId3"/>
          <a:stretch>
            <a:fillRect/>
          </a:stretch>
        </p:blipFill>
        <p:spPr>
          <a:xfrm>
            <a:off x="5320037" y="1535841"/>
            <a:ext cx="127871" cy="102297"/>
          </a:xfrm>
          <a:prstGeom prst="rect">
            <a:avLst/>
          </a:prstGeom>
        </p:spPr>
      </p:pic>
      <p:sp>
        <p:nvSpPr>
          <p:cNvPr id="12" name="Text 6"/>
          <p:cNvSpPr/>
          <p:nvPr/>
        </p:nvSpPr>
        <p:spPr>
          <a:xfrm>
            <a:off x="2917384" y="4214278"/>
            <a:ext cx="2887159" cy="613780"/>
          </a:xfrm>
          <a:prstGeom prst="rect">
            <a:avLst/>
          </a:prstGeom>
          <a:noFill/>
          <a:ln/>
        </p:spPr>
        <p:txBody>
          <a:bodyPr wrap="square" lIns="0" tIns="0" rIns="0" bIns="0" rtlCol="0" anchor="t">
            <a:normAutofit/>
          </a:bodyPr>
          <a:lstStyle/>
          <a:p>
            <a:pPr marL="0" indent="0" algn="ctr">
              <a:lnSpc>
                <a:spcPct val="125000"/>
              </a:lnSpc>
              <a:buNone/>
            </a:pPr>
            <a:r>
              <a:rPr lang="en-US" sz="800" dirty="0">
                <a:solidFill>
                  <a:srgbClr val="384653"/>
                </a:solidFill>
                <a:latin typeface="Roboto" pitchFamily="34" charset="0"/>
                <a:ea typeface="Roboto" pitchFamily="34" charset="-122"/>
                <a:cs typeface="Roboto" pitchFamily="34" charset="-120"/>
              </a:rPr>
              <a:t>CFD results confirmed that the chosen arm geometry minimizes turbulent interference with the OV2640 sensor field of view, ensuring stable image capture during hover and reducing the likelihood of vibration-induced blur.</a:t>
            </a:r>
            <a:endParaRPr lang="en-US" sz="800" dirty="0"/>
          </a:p>
        </p:txBody>
      </p:sp>
      <p:sp>
        <p:nvSpPr>
          <p:cNvPr id="13" name="Text 7"/>
          <p:cNvSpPr/>
          <p:nvPr/>
        </p:nvSpPr>
        <p:spPr>
          <a:xfrm>
            <a:off x="5877164" y="1031845"/>
            <a:ext cx="3275020" cy="159838"/>
          </a:xfrm>
          <a:prstGeom prst="rect">
            <a:avLst/>
          </a:prstGeom>
          <a:noFill/>
          <a:ln/>
        </p:spPr>
        <p:txBody>
          <a:bodyPr wrap="none" lIns="0" tIns="0" rIns="0" bIns="0" rtlCol="0" anchor="t"/>
          <a:lstStyle/>
          <a:p>
            <a:pPr marL="0" indent="0" algn="ctr">
              <a:lnSpc>
                <a:spcPct val="104000"/>
              </a:lnSpc>
              <a:buNone/>
            </a:pPr>
            <a:r>
              <a:rPr lang="en-US" sz="1000" dirty="0">
                <a:solidFill>
                  <a:srgbClr val="2E3C4E"/>
                </a:solidFill>
                <a:latin typeface="Host Grotesk Medium" pitchFamily="34" charset="0"/>
                <a:ea typeface="Host Grotesk Medium" pitchFamily="34" charset="-122"/>
                <a:cs typeface="Host Grotesk Medium" pitchFamily="34" charset="-120"/>
              </a:rPr>
              <a:t>Key Parameters Studied</a:t>
            </a:r>
            <a:endParaRPr lang="en-US" sz="1000" dirty="0"/>
          </a:p>
        </p:txBody>
      </p:sp>
      <p:sp>
        <p:nvSpPr>
          <p:cNvPr id="14" name="Text 8"/>
          <p:cNvSpPr/>
          <p:nvPr/>
        </p:nvSpPr>
        <p:spPr>
          <a:xfrm>
            <a:off x="6020969" y="1179475"/>
            <a:ext cx="3046420" cy="1099488"/>
          </a:xfrm>
          <a:prstGeom prst="rect">
            <a:avLst/>
          </a:prstGeom>
          <a:noFill/>
          <a:ln/>
        </p:spPr>
        <p:txBody>
          <a:bodyPr wrap="square" lIns="0" tIns="0" rIns="0" bIns="0" rtlCol="0" anchor="t">
            <a:noAutofit/>
          </a:bodyPr>
          <a:lstStyle/>
          <a:p>
            <a:pPr marL="342900" indent="-342900" algn="l">
              <a:lnSpc>
                <a:spcPct val="125000"/>
              </a:lnSpc>
              <a:buSzPct val="100000"/>
              <a:buChar char="•"/>
            </a:pPr>
            <a:r>
              <a:rPr lang="en-US" sz="900" dirty="0">
                <a:solidFill>
                  <a:srgbClr val="384653"/>
                </a:solidFill>
                <a:latin typeface="Aptos Narrow" panose="020B0004020202020204" pitchFamily="34" charset="0"/>
                <a:ea typeface="Roboto" pitchFamily="34" charset="-122"/>
                <a:cs typeface="Roboto" pitchFamily="34" charset="-120"/>
              </a:rPr>
              <a:t>Pressure distribution on the drone frame and arms</a:t>
            </a:r>
            <a:endParaRPr lang="en-US" sz="900" dirty="0">
              <a:latin typeface="Aptos Narrow" panose="020B0004020202020204" pitchFamily="34" charset="0"/>
            </a:endParaRPr>
          </a:p>
          <a:p>
            <a:pPr marL="342900" indent="-342900" algn="l">
              <a:lnSpc>
                <a:spcPct val="125000"/>
              </a:lnSpc>
              <a:buSzPct val="100000"/>
              <a:buChar char="•"/>
            </a:pPr>
            <a:r>
              <a:rPr lang="en-US" sz="900" dirty="0">
                <a:solidFill>
                  <a:srgbClr val="384653"/>
                </a:solidFill>
                <a:latin typeface="Aptos Narrow" panose="020B0004020202020204" pitchFamily="34" charset="0"/>
                <a:ea typeface="Roboto" pitchFamily="34" charset="-122"/>
                <a:cs typeface="Roboto" pitchFamily="34" charset="-120"/>
              </a:rPr>
              <a:t>Velocity streamlines around propeller discs</a:t>
            </a:r>
            <a:endParaRPr lang="en-US" sz="900" dirty="0">
              <a:latin typeface="Aptos Narrow" panose="020B0004020202020204" pitchFamily="34" charset="0"/>
            </a:endParaRPr>
          </a:p>
          <a:p>
            <a:pPr marL="342900" indent="-342900" algn="l">
              <a:lnSpc>
                <a:spcPct val="125000"/>
              </a:lnSpc>
              <a:buSzPct val="100000"/>
              <a:buChar char="•"/>
            </a:pPr>
            <a:r>
              <a:rPr lang="en-US" sz="900" dirty="0">
                <a:solidFill>
                  <a:srgbClr val="384653"/>
                </a:solidFill>
                <a:latin typeface="Aptos Narrow" panose="020B0004020202020204" pitchFamily="34" charset="0"/>
                <a:ea typeface="Roboto" pitchFamily="34" charset="-122"/>
                <a:cs typeface="Roboto" pitchFamily="34" charset="-120"/>
              </a:rPr>
              <a:t>Drag coefficient at 0°, 15°, and 30° tilt angles</a:t>
            </a:r>
            <a:endParaRPr lang="en-US" sz="900" dirty="0">
              <a:latin typeface="Aptos Narrow" panose="020B0004020202020204" pitchFamily="34" charset="0"/>
            </a:endParaRPr>
          </a:p>
          <a:p>
            <a:pPr marL="342900" indent="-342900" algn="l">
              <a:lnSpc>
                <a:spcPct val="125000"/>
              </a:lnSpc>
              <a:buSzPct val="100000"/>
              <a:buChar char="•"/>
            </a:pPr>
            <a:r>
              <a:rPr lang="en-US" sz="900" dirty="0">
                <a:solidFill>
                  <a:srgbClr val="384653"/>
                </a:solidFill>
                <a:latin typeface="Aptos Narrow" panose="020B0004020202020204" pitchFamily="34" charset="0"/>
                <a:ea typeface="Roboto" pitchFamily="34" charset="-122"/>
                <a:cs typeface="Roboto" pitchFamily="34" charset="-120"/>
              </a:rPr>
              <a:t>Downwash effect on the camera mount and sensor housing</a:t>
            </a:r>
            <a:endParaRPr lang="en-US" sz="900" dirty="0">
              <a:latin typeface="Aptos Narrow" panose="020B0004020202020204" pitchFamily="34" charset="0"/>
            </a:endParaRPr>
          </a:p>
          <a:p>
            <a:pPr marL="342900" indent="-342900" algn="l">
              <a:lnSpc>
                <a:spcPct val="125000"/>
              </a:lnSpc>
              <a:buSzPct val="100000"/>
              <a:buChar char="•"/>
            </a:pPr>
            <a:r>
              <a:rPr lang="en-US" sz="900" dirty="0">
                <a:solidFill>
                  <a:srgbClr val="384653"/>
                </a:solidFill>
                <a:latin typeface="Aptos Narrow" panose="020B0004020202020204" pitchFamily="34" charset="0"/>
                <a:ea typeface="Roboto" pitchFamily="34" charset="-122"/>
                <a:cs typeface="Roboto" pitchFamily="34" charset="-120"/>
              </a:rPr>
              <a:t>Wake recirculation behind the central body and landing structure</a:t>
            </a:r>
            <a:endParaRPr lang="en-US" sz="900" dirty="0">
              <a:latin typeface="Aptos Narrow" panose="020B0004020202020204" pitchFamily="34" charset="0"/>
            </a:endParaRPr>
          </a:p>
          <a:p>
            <a:pPr marL="342900" indent="-342900" algn="l">
              <a:lnSpc>
                <a:spcPct val="125000"/>
              </a:lnSpc>
              <a:buSzPct val="100000"/>
              <a:buChar char="•"/>
            </a:pPr>
            <a:r>
              <a:rPr lang="en-US" sz="900" dirty="0">
                <a:solidFill>
                  <a:srgbClr val="384653"/>
                </a:solidFill>
                <a:latin typeface="Aptos Narrow" panose="020B0004020202020204" pitchFamily="34" charset="0"/>
                <a:ea typeface="Roboto" pitchFamily="34" charset="-122"/>
                <a:cs typeface="Roboto" pitchFamily="34" charset="-120"/>
              </a:rPr>
              <a:t>Local flow acceleration near sharp edges and mounting interfaces</a:t>
            </a:r>
            <a:endParaRPr lang="en-US" sz="900" dirty="0">
              <a:latin typeface="Aptos Narrow" panose="020B0004020202020204" pitchFamily="34" charset="0"/>
            </a:endParaRPr>
          </a:p>
        </p:txBody>
      </p:sp>
      <p:sp>
        <p:nvSpPr>
          <p:cNvPr id="15" name="Text 9"/>
          <p:cNvSpPr/>
          <p:nvPr/>
        </p:nvSpPr>
        <p:spPr>
          <a:xfrm>
            <a:off x="5906669" y="2632966"/>
            <a:ext cx="3275020" cy="159838"/>
          </a:xfrm>
          <a:prstGeom prst="rect">
            <a:avLst/>
          </a:prstGeom>
          <a:noFill/>
          <a:ln/>
        </p:spPr>
        <p:txBody>
          <a:bodyPr wrap="none" lIns="0" tIns="0" rIns="0" bIns="0" rtlCol="0" anchor="t"/>
          <a:lstStyle/>
          <a:p>
            <a:pPr marL="0" indent="0" algn="ctr">
              <a:lnSpc>
                <a:spcPct val="104000"/>
              </a:lnSpc>
              <a:buNone/>
            </a:pPr>
            <a:r>
              <a:rPr lang="en-US" sz="1000" dirty="0">
                <a:solidFill>
                  <a:srgbClr val="2E3C4E"/>
                </a:solidFill>
                <a:latin typeface="Host Grotesk Medium" pitchFamily="34" charset="0"/>
                <a:ea typeface="Host Grotesk Medium" pitchFamily="34" charset="-122"/>
                <a:cs typeface="Host Grotesk Medium" pitchFamily="34" charset="-120"/>
              </a:rPr>
              <a:t>Outcome</a:t>
            </a:r>
            <a:endParaRPr lang="en-US" sz="1000" dirty="0"/>
          </a:p>
        </p:txBody>
      </p:sp>
      <p:sp>
        <p:nvSpPr>
          <p:cNvPr id="16" name="Text 10"/>
          <p:cNvSpPr/>
          <p:nvPr/>
        </p:nvSpPr>
        <p:spPr>
          <a:xfrm>
            <a:off x="5991464" y="2745522"/>
            <a:ext cx="3046420" cy="1381004"/>
          </a:xfrm>
          <a:prstGeom prst="rect">
            <a:avLst/>
          </a:prstGeom>
          <a:noFill/>
          <a:ln/>
        </p:spPr>
        <p:txBody>
          <a:bodyPr wrap="square" lIns="0" tIns="0" rIns="0" bIns="0" rtlCol="0" anchor="t">
            <a:noAutofit/>
          </a:bodyPr>
          <a:lstStyle/>
          <a:p>
            <a:pPr marL="0" indent="0" algn="ctr">
              <a:lnSpc>
                <a:spcPct val="125000"/>
              </a:lnSpc>
              <a:buNone/>
            </a:pPr>
            <a:r>
              <a:rPr lang="en-US" sz="1100" dirty="0">
                <a:solidFill>
                  <a:srgbClr val="384653"/>
                </a:solidFill>
                <a:latin typeface="Aptos Narrow" panose="020B0004020202020204" pitchFamily="34" charset="0"/>
                <a:ea typeface="Roboto" pitchFamily="34" charset="-122"/>
                <a:cs typeface="Roboto" pitchFamily="34" charset="-120"/>
              </a:rPr>
              <a:t>Simulation data validated the structural and aerodynamic design before physical fabrication, reducing iteration cycles, material wastage, and the risk of late-stage redesigns. The analysis also helped identify low-pressure regions near the mounting arm, informing small refinements to improve flow smoothness and sensor protection. Additional inspection of the pressure and velocity contours showed reduced flow separation near the camera mount, supporting the decision to keep the sensor bracket compact and aerodynamically aligned.</a:t>
            </a:r>
            <a:endParaRPr lang="en-US" sz="1100" dirty="0">
              <a:latin typeface="Aptos Narrow" panose="020B0004020202020204" pitchFamily="34" charset="0"/>
            </a:endParaRPr>
          </a:p>
        </p:txBody>
      </p:sp>
      <p:pic>
        <p:nvPicPr>
          <p:cNvPr id="17" name="Image 0" descr="preencoded.png">
            <a:extLst>
              <a:ext uri="{FF2B5EF4-FFF2-40B4-BE49-F238E27FC236}">
                <a16:creationId xmlns:a16="http://schemas.microsoft.com/office/drawing/2014/main" id="{FB68FC27-D6B3-3BA5-C6C9-78A1A3523C0D}"/>
              </a:ext>
            </a:extLst>
          </p:cNvPr>
          <p:cNvPicPr>
            <a:picLocks noChangeAspect="1"/>
          </p:cNvPicPr>
          <p:nvPr/>
        </p:nvPicPr>
        <p:blipFill>
          <a:blip r:embed="rId4"/>
          <a:stretch>
            <a:fillRect/>
          </a:stretch>
        </p:blipFill>
        <p:spPr>
          <a:xfrm>
            <a:off x="367244" y="472355"/>
            <a:ext cx="1055340" cy="305246"/>
          </a:xfrm>
          <a:prstGeom prst="rect">
            <a:avLst/>
          </a:prstGeom>
        </p:spPr>
      </p:pic>
      <p:pic>
        <p:nvPicPr>
          <p:cNvPr id="22" name="Picture 21">
            <a:extLst>
              <a:ext uri="{FF2B5EF4-FFF2-40B4-BE49-F238E27FC236}">
                <a16:creationId xmlns:a16="http://schemas.microsoft.com/office/drawing/2014/main" id="{4A6901AF-45C3-5B90-75A2-FAEDC1BD85C8}"/>
              </a:ext>
            </a:extLst>
          </p:cNvPr>
          <p:cNvPicPr>
            <a:picLocks noChangeAspect="1"/>
          </p:cNvPicPr>
          <p:nvPr/>
        </p:nvPicPr>
        <p:blipFill>
          <a:blip r:embed="rId5"/>
          <a:srcRect r="24148"/>
          <a:stretch>
            <a:fillRect/>
          </a:stretch>
        </p:blipFill>
        <p:spPr>
          <a:xfrm>
            <a:off x="191750" y="979396"/>
            <a:ext cx="2208628" cy="1637863"/>
          </a:xfrm>
          <a:prstGeom prst="rect">
            <a:avLst/>
          </a:prstGeom>
        </p:spPr>
      </p:pic>
      <p:sp>
        <p:nvSpPr>
          <p:cNvPr id="23" name="TextBox 22">
            <a:extLst>
              <a:ext uri="{FF2B5EF4-FFF2-40B4-BE49-F238E27FC236}">
                <a16:creationId xmlns:a16="http://schemas.microsoft.com/office/drawing/2014/main" id="{B382F739-0E25-BCD0-E635-9D08859EC1D8}"/>
              </a:ext>
            </a:extLst>
          </p:cNvPr>
          <p:cNvSpPr txBox="1"/>
          <p:nvPr/>
        </p:nvSpPr>
        <p:spPr>
          <a:xfrm>
            <a:off x="106116" y="2602930"/>
            <a:ext cx="2150935" cy="261610"/>
          </a:xfrm>
          <a:prstGeom prst="rect">
            <a:avLst/>
          </a:prstGeom>
          <a:noFill/>
        </p:spPr>
        <p:txBody>
          <a:bodyPr wrap="square" rtlCol="0">
            <a:spAutoFit/>
          </a:bodyPr>
          <a:lstStyle/>
          <a:p>
            <a:r>
              <a:rPr lang="en-IN" sz="1050" dirty="0"/>
              <a:t>Velocity along Z direction</a:t>
            </a:r>
          </a:p>
        </p:txBody>
      </p:sp>
      <p:sp>
        <p:nvSpPr>
          <p:cNvPr id="24" name="TextBox 23">
            <a:extLst>
              <a:ext uri="{FF2B5EF4-FFF2-40B4-BE49-F238E27FC236}">
                <a16:creationId xmlns:a16="http://schemas.microsoft.com/office/drawing/2014/main" id="{9B450606-98C1-BABE-9D54-C05E84C9E262}"/>
              </a:ext>
            </a:extLst>
          </p:cNvPr>
          <p:cNvSpPr txBox="1"/>
          <p:nvPr/>
        </p:nvSpPr>
        <p:spPr>
          <a:xfrm>
            <a:off x="106116" y="4671145"/>
            <a:ext cx="1786597" cy="261610"/>
          </a:xfrm>
          <a:prstGeom prst="rect">
            <a:avLst/>
          </a:prstGeom>
          <a:noFill/>
        </p:spPr>
        <p:txBody>
          <a:bodyPr wrap="square" rtlCol="0">
            <a:spAutoFit/>
          </a:bodyPr>
          <a:lstStyle/>
          <a:p>
            <a:r>
              <a:rPr lang="en-IN" sz="1100" dirty="0"/>
              <a:t>Pressure along Z direction</a:t>
            </a:r>
          </a:p>
        </p:txBody>
      </p:sp>
      <p:pic>
        <p:nvPicPr>
          <p:cNvPr id="26" name="Picture 25">
            <a:extLst>
              <a:ext uri="{FF2B5EF4-FFF2-40B4-BE49-F238E27FC236}">
                <a16:creationId xmlns:a16="http://schemas.microsoft.com/office/drawing/2014/main" id="{6FD4AAFA-73F8-6D6C-C4EC-C22BEE1E94EB}"/>
              </a:ext>
            </a:extLst>
          </p:cNvPr>
          <p:cNvPicPr>
            <a:picLocks noChangeAspect="1"/>
          </p:cNvPicPr>
          <p:nvPr/>
        </p:nvPicPr>
        <p:blipFill>
          <a:blip r:embed="rId6"/>
          <a:srcRect r="28307"/>
          <a:stretch>
            <a:fillRect/>
          </a:stretch>
        </p:blipFill>
        <p:spPr>
          <a:xfrm>
            <a:off x="191749" y="3016567"/>
            <a:ext cx="2150936" cy="168763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589359"/>
            <a:ext cx="826889" cy="239167"/>
          </a:xfrm>
          <a:prstGeom prst="rect">
            <a:avLst/>
          </a:prstGeom>
        </p:spPr>
      </p:pic>
      <p:sp>
        <p:nvSpPr>
          <p:cNvPr id="3" name="Text 0"/>
          <p:cNvSpPr/>
          <p:nvPr/>
        </p:nvSpPr>
        <p:spPr>
          <a:xfrm>
            <a:off x="1767706" y="576560"/>
            <a:ext cx="6678513" cy="376535"/>
          </a:xfrm>
          <a:prstGeom prst="rect">
            <a:avLst/>
          </a:prstGeom>
          <a:noFill/>
          <a:ln/>
        </p:spPr>
        <p:txBody>
          <a:bodyPr wrap="none" lIns="0" tIns="0" rIns="0" bIns="0" rtlCol="0" anchor="t"/>
          <a:lstStyle/>
          <a:p>
            <a:pPr marL="0" indent="0" algn="l">
              <a:lnSpc>
                <a:spcPct val="104000"/>
              </a:lnSpc>
              <a:buNone/>
            </a:pPr>
            <a:r>
              <a:rPr lang="en-US" sz="2350" dirty="0">
                <a:solidFill>
                  <a:srgbClr val="2E3C4E"/>
                </a:solidFill>
                <a:latin typeface="Host Grotesk Medium" pitchFamily="34" charset="0"/>
                <a:ea typeface="Host Grotesk Medium" pitchFamily="34" charset="-122"/>
                <a:cs typeface="Host Grotesk Medium" pitchFamily="34" charset="-120"/>
              </a:rPr>
              <a:t>Results &amp; Validation — Hardware &amp; ML Model</a:t>
            </a:r>
            <a:endParaRPr lang="en-US" sz="2350" dirty="0"/>
          </a:p>
        </p:txBody>
      </p:sp>
      <p:sp>
        <p:nvSpPr>
          <p:cNvPr id="4" name="Shape 1"/>
          <p:cNvSpPr/>
          <p:nvPr/>
        </p:nvSpPr>
        <p:spPr>
          <a:xfrm>
            <a:off x="409352" y="1170682"/>
            <a:ext cx="4102447" cy="3498652"/>
          </a:xfrm>
          <a:prstGeom prst="roundRect">
            <a:avLst>
              <a:gd name="adj" fmla="val 2480"/>
            </a:avLst>
          </a:prstGeom>
          <a:solidFill>
            <a:srgbClr val="95CCDA"/>
          </a:solidFill>
          <a:ln/>
        </p:spPr>
      </p:sp>
      <p:sp>
        <p:nvSpPr>
          <p:cNvPr id="5" name="Text 2"/>
          <p:cNvSpPr/>
          <p:nvPr/>
        </p:nvSpPr>
        <p:spPr>
          <a:xfrm>
            <a:off x="529828" y="1273076"/>
            <a:ext cx="2052191" cy="188268"/>
          </a:xfrm>
          <a:prstGeom prst="rect">
            <a:avLst/>
          </a:prstGeom>
          <a:noFill/>
          <a:ln/>
        </p:spPr>
        <p:txBody>
          <a:bodyPr wrap="none" lIns="0" tIns="0" rIns="0" bIns="0" rtlCol="0" anchor="t"/>
          <a:lstStyle/>
          <a:p>
            <a:pPr marL="0" indent="0" algn="l">
              <a:lnSpc>
                <a:spcPct val="104000"/>
              </a:lnSpc>
              <a:buNone/>
            </a:pPr>
            <a:r>
              <a:rPr lang="en-US" sz="1150" dirty="0">
                <a:solidFill>
                  <a:srgbClr val="2E3C4E"/>
                </a:solidFill>
                <a:latin typeface="Host Grotesk Medium" pitchFamily="34" charset="0"/>
                <a:ea typeface="Host Grotesk Medium" pitchFamily="34" charset="-122"/>
                <a:cs typeface="Host Grotesk Medium" pitchFamily="34" charset="-120"/>
              </a:rPr>
              <a:t>Hardware Performance</a:t>
            </a:r>
            <a:endParaRPr lang="en-US" sz="1150" dirty="0"/>
          </a:p>
        </p:txBody>
      </p:sp>
      <p:sp>
        <p:nvSpPr>
          <p:cNvPr id="6" name="Text 3"/>
          <p:cNvSpPr/>
          <p:nvPr/>
        </p:nvSpPr>
        <p:spPr>
          <a:xfrm>
            <a:off x="529828" y="1563737"/>
            <a:ext cx="3861495" cy="2256160"/>
          </a:xfrm>
          <a:prstGeom prst="rect">
            <a:avLst/>
          </a:prstGeom>
          <a:noFill/>
          <a:ln/>
        </p:spPr>
        <p:txBody>
          <a:bodyPr wrap="square" lIns="0" tIns="0" rIns="0" bIns="0" rtlCol="0" anchor="t">
            <a:normAutofit/>
          </a:bodyPr>
          <a:lstStyle/>
          <a:p>
            <a:pPr marL="342900" indent="-342900" algn="l">
              <a:lnSpc>
                <a:spcPct val="116000"/>
              </a:lnSpc>
              <a:buSzPct val="100000"/>
              <a:buChar char="•"/>
            </a:pPr>
            <a:r>
              <a:rPr lang="en-US" sz="900" dirty="0">
                <a:solidFill>
                  <a:srgbClr val="000000"/>
                </a:solidFill>
                <a:latin typeface="Roboto" pitchFamily="34" charset="0"/>
                <a:ea typeface="Roboto" pitchFamily="34" charset="-122"/>
                <a:cs typeface="Roboto" pitchFamily="34" charset="-120"/>
              </a:rPr>
              <a:t>Stable hover achieved with &lt;5% deviation from target altitude</a:t>
            </a:r>
            <a:endParaRPr lang="en-US" sz="900" dirty="0"/>
          </a:p>
          <a:p>
            <a:pPr marL="342900" indent="-342900" algn="l">
              <a:lnSpc>
                <a:spcPct val="116000"/>
              </a:lnSpc>
              <a:buSzPct val="100000"/>
              <a:buChar char="•"/>
            </a:pPr>
            <a:r>
              <a:rPr lang="en-US" sz="900" dirty="0">
                <a:solidFill>
                  <a:srgbClr val="000000"/>
                </a:solidFill>
                <a:latin typeface="Roboto" pitchFamily="34" charset="0"/>
                <a:ea typeface="Roboto" pitchFamily="34" charset="-122"/>
                <a:cs typeface="Roboto" pitchFamily="34" charset="-120"/>
              </a:rPr>
              <a:t>ESP32-CAM captured frames at ~10 FPS during flight</a:t>
            </a:r>
            <a:endParaRPr lang="en-US" sz="900" dirty="0"/>
          </a:p>
          <a:p>
            <a:pPr marL="342900" indent="-342900" algn="l">
              <a:lnSpc>
                <a:spcPct val="116000"/>
              </a:lnSpc>
              <a:buSzPct val="100000"/>
              <a:buChar char="•"/>
            </a:pPr>
            <a:r>
              <a:rPr lang="en-US" sz="900" dirty="0">
                <a:solidFill>
                  <a:srgbClr val="000000"/>
                </a:solidFill>
                <a:latin typeface="Roboto" pitchFamily="34" charset="0"/>
                <a:ea typeface="Roboto" pitchFamily="34" charset="-122"/>
                <a:cs typeface="Roboto" pitchFamily="34" charset="-120"/>
              </a:rPr>
              <a:t>Camera mount maintained vibration-free imaging at hover</a:t>
            </a:r>
            <a:endParaRPr lang="en-US" sz="900" dirty="0"/>
          </a:p>
          <a:p>
            <a:pPr marL="342900" indent="-342900" algn="l">
              <a:lnSpc>
                <a:spcPct val="116000"/>
              </a:lnSpc>
              <a:buSzPct val="100000"/>
              <a:buChar char="•"/>
            </a:pPr>
            <a:r>
              <a:rPr lang="en-US" sz="900" dirty="0">
                <a:solidFill>
                  <a:srgbClr val="000000"/>
                </a:solidFill>
                <a:latin typeface="Roboto" pitchFamily="34" charset="0"/>
                <a:ea typeface="Roboto" pitchFamily="34" charset="-122"/>
                <a:cs typeface="Roboto" pitchFamily="34" charset="-120"/>
              </a:rPr>
              <a:t>Wi-Fi transmission latency: &lt;200 ms per frame</a:t>
            </a:r>
            <a:endParaRPr lang="en-US" sz="900" dirty="0"/>
          </a:p>
          <a:p>
            <a:pPr marL="342900" indent="-342900" algn="l">
              <a:lnSpc>
                <a:spcPct val="116000"/>
              </a:lnSpc>
              <a:buSzPct val="100000"/>
              <a:buChar char="•"/>
            </a:pPr>
            <a:r>
              <a:rPr lang="en-US" sz="900" dirty="0">
                <a:solidFill>
                  <a:srgbClr val="000000"/>
                </a:solidFill>
                <a:latin typeface="Roboto" pitchFamily="34" charset="0"/>
                <a:ea typeface="Roboto" pitchFamily="34" charset="-122"/>
                <a:cs typeface="Roboto" pitchFamily="34" charset="-120"/>
              </a:rPr>
              <a:t>System remained responsive during short mission cycles and repeated hover tests</a:t>
            </a:r>
            <a:endParaRPr lang="en-US" sz="900" dirty="0"/>
          </a:p>
          <a:p>
            <a:pPr marL="342900" indent="-342900" algn="l">
              <a:lnSpc>
                <a:spcPct val="116000"/>
              </a:lnSpc>
              <a:buSzPct val="100000"/>
              <a:buChar char="•"/>
            </a:pPr>
            <a:r>
              <a:rPr lang="en-US" sz="900" dirty="0">
                <a:solidFill>
                  <a:srgbClr val="000000"/>
                </a:solidFill>
                <a:latin typeface="Roboto" pitchFamily="34" charset="0"/>
                <a:ea typeface="Roboto" pitchFamily="34" charset="-122"/>
                <a:cs typeface="Roboto" pitchFamily="34" charset="-120"/>
              </a:rPr>
              <a:t>Autonomous hover and capture sequence remained consistent across repeated runs</a:t>
            </a:r>
            <a:endParaRPr lang="en-US" sz="900" dirty="0"/>
          </a:p>
          <a:p>
            <a:pPr marL="342900" indent="-342900" algn="l">
              <a:lnSpc>
                <a:spcPct val="116000"/>
              </a:lnSpc>
              <a:buSzPct val="100000"/>
              <a:buChar char="•"/>
            </a:pPr>
            <a:r>
              <a:rPr lang="en-US" sz="900" dirty="0">
                <a:solidFill>
                  <a:srgbClr val="000000"/>
                </a:solidFill>
                <a:latin typeface="Roboto" pitchFamily="34" charset="0"/>
                <a:ea typeface="Roboto" pitchFamily="34" charset="-122"/>
                <a:cs typeface="Roboto" pitchFamily="34" charset="-120"/>
              </a:rPr>
              <a:t>Telemetry and image streaming stayed stable during short-range validation flights</a:t>
            </a:r>
            <a:endParaRPr lang="en-US" sz="900" dirty="0"/>
          </a:p>
          <a:p>
            <a:pPr marL="342900" indent="-342900" algn="l">
              <a:lnSpc>
                <a:spcPct val="116000"/>
              </a:lnSpc>
              <a:buSzPct val="100000"/>
              <a:buChar char="•"/>
            </a:pPr>
            <a:r>
              <a:rPr lang="en-US" sz="900" dirty="0">
                <a:solidFill>
                  <a:srgbClr val="000000"/>
                </a:solidFill>
                <a:latin typeface="Roboto" pitchFamily="34" charset="0"/>
                <a:ea typeface="Roboto" pitchFamily="34" charset="-122"/>
                <a:cs typeface="Roboto" pitchFamily="34" charset="-120"/>
              </a:rPr>
              <a:t>Flight behavior showed reliable control response without visible oscillation at hover</a:t>
            </a:r>
            <a:endParaRPr lang="en-US" sz="900" dirty="0"/>
          </a:p>
        </p:txBody>
      </p:sp>
      <p:sp>
        <p:nvSpPr>
          <p:cNvPr id="7" name="Text 4"/>
          <p:cNvSpPr/>
          <p:nvPr/>
        </p:nvSpPr>
        <p:spPr>
          <a:xfrm>
            <a:off x="4723730" y="1273076"/>
            <a:ext cx="1963415" cy="188268"/>
          </a:xfrm>
          <a:prstGeom prst="rect">
            <a:avLst/>
          </a:prstGeom>
          <a:noFill/>
          <a:ln/>
        </p:spPr>
        <p:txBody>
          <a:bodyPr wrap="none" lIns="0" tIns="0" rIns="0" bIns="0" rtlCol="0" anchor="t"/>
          <a:lstStyle/>
          <a:p>
            <a:pPr marL="0" indent="0" algn="l">
              <a:lnSpc>
                <a:spcPct val="104000"/>
              </a:lnSpc>
              <a:buNone/>
            </a:pPr>
            <a:r>
              <a:rPr lang="en-US" sz="1150" dirty="0">
                <a:solidFill>
                  <a:srgbClr val="2E3C4E"/>
                </a:solidFill>
                <a:latin typeface="Host Grotesk Medium" pitchFamily="34" charset="0"/>
                <a:ea typeface="Host Grotesk Medium" pitchFamily="34" charset="-122"/>
                <a:cs typeface="Host Grotesk Medium" pitchFamily="34" charset="-120"/>
              </a:rPr>
              <a:t>ML Model Accuracy</a:t>
            </a:r>
            <a:endParaRPr lang="en-US" sz="1150" dirty="0"/>
          </a:p>
        </p:txBody>
      </p:sp>
      <p:sp>
        <p:nvSpPr>
          <p:cNvPr id="8" name="Text 5"/>
          <p:cNvSpPr/>
          <p:nvPr/>
        </p:nvSpPr>
        <p:spPr>
          <a:xfrm>
            <a:off x="4723730" y="1563737"/>
            <a:ext cx="3928914" cy="2256160"/>
          </a:xfrm>
          <a:prstGeom prst="rect">
            <a:avLst/>
          </a:prstGeom>
          <a:noFill/>
          <a:ln/>
        </p:spPr>
        <p:txBody>
          <a:bodyPr wrap="square" lIns="0" tIns="0" rIns="0" bIns="0" rtlCol="0" anchor="t">
            <a:normAutofit/>
          </a:bodyPr>
          <a:lstStyle/>
          <a:p>
            <a:pPr marL="342900" indent="-342900" algn="l">
              <a:lnSpc>
                <a:spcPct val="116000"/>
              </a:lnSpc>
              <a:buSzPct val="100000"/>
              <a:buChar char="•"/>
            </a:pPr>
            <a:r>
              <a:rPr lang="en-US" sz="900" dirty="0">
                <a:solidFill>
                  <a:srgbClr val="384653"/>
                </a:solidFill>
                <a:latin typeface="Roboto" pitchFamily="34" charset="0"/>
                <a:ea typeface="Roboto" pitchFamily="34" charset="-122"/>
                <a:cs typeface="Roboto" pitchFamily="34" charset="-120"/>
              </a:rPr>
              <a:t>Dataset: 4,000+ labeled crack / no-crack surface images</a:t>
            </a:r>
            <a:endParaRPr lang="en-US" sz="900" dirty="0"/>
          </a:p>
          <a:p>
            <a:pPr marL="342900" indent="-342900" algn="l">
              <a:lnSpc>
                <a:spcPct val="116000"/>
              </a:lnSpc>
              <a:buSzPct val="100000"/>
              <a:buChar char="•"/>
            </a:pPr>
            <a:r>
              <a:rPr lang="en-US" sz="900" dirty="0">
                <a:solidFill>
                  <a:srgbClr val="384653"/>
                </a:solidFill>
                <a:latin typeface="Roboto" pitchFamily="34" charset="0"/>
                <a:ea typeface="Roboto" pitchFamily="34" charset="-122"/>
                <a:cs typeface="Roboto" pitchFamily="34" charset="-120"/>
              </a:rPr>
              <a:t>Model: Lightweight CNN (MobileNet-based) quantized for ESP32</a:t>
            </a:r>
            <a:endParaRPr lang="en-US" sz="900" dirty="0"/>
          </a:p>
          <a:p>
            <a:pPr marL="342900" indent="-342900" algn="l">
              <a:lnSpc>
                <a:spcPct val="116000"/>
              </a:lnSpc>
              <a:buSzPct val="100000"/>
              <a:buChar char="•"/>
            </a:pPr>
            <a:r>
              <a:rPr lang="en-US" sz="900" dirty="0">
                <a:solidFill>
                  <a:srgbClr val="384653"/>
                </a:solidFill>
                <a:latin typeface="Roboto" pitchFamily="34" charset="0"/>
                <a:ea typeface="Roboto" pitchFamily="34" charset="-122"/>
                <a:cs typeface="Roboto" pitchFamily="34" charset="-120"/>
              </a:rPr>
              <a:t>Validation accuracy: ~92% on test set</a:t>
            </a:r>
            <a:endParaRPr lang="en-US" sz="900" dirty="0"/>
          </a:p>
          <a:p>
            <a:pPr marL="342900" indent="-342900" algn="l">
              <a:lnSpc>
                <a:spcPct val="116000"/>
              </a:lnSpc>
              <a:buSzPct val="100000"/>
              <a:buChar char="•"/>
            </a:pPr>
            <a:r>
              <a:rPr lang="en-US" sz="900" dirty="0">
                <a:solidFill>
                  <a:srgbClr val="384653"/>
                </a:solidFill>
                <a:latin typeface="Roboto" pitchFamily="34" charset="0"/>
                <a:ea typeface="Roboto" pitchFamily="34" charset="-122"/>
                <a:cs typeface="Roboto" pitchFamily="34" charset="-120"/>
              </a:rPr>
              <a:t>False positive rate: &lt;6% under field conditions</a:t>
            </a:r>
            <a:endParaRPr lang="en-US" sz="900" dirty="0"/>
          </a:p>
          <a:p>
            <a:pPr marL="342900" indent="-342900" algn="l">
              <a:lnSpc>
                <a:spcPct val="116000"/>
              </a:lnSpc>
              <a:buSzPct val="100000"/>
              <a:buChar char="•"/>
            </a:pPr>
            <a:r>
              <a:rPr lang="en-US" sz="900" dirty="0">
                <a:solidFill>
                  <a:srgbClr val="384653"/>
                </a:solidFill>
                <a:latin typeface="Roboto" pitchFamily="34" charset="0"/>
                <a:ea typeface="Roboto" pitchFamily="34" charset="-122"/>
                <a:cs typeface="Roboto" pitchFamily="34" charset="-120"/>
              </a:rPr>
              <a:t>Detected hairline cracks as narrow as 0.3 mm on concrete surfaces under natural lighting</a:t>
            </a:r>
            <a:endParaRPr lang="en-US" sz="900" dirty="0"/>
          </a:p>
          <a:p>
            <a:pPr marL="342900" indent="-342900" algn="l">
              <a:lnSpc>
                <a:spcPct val="116000"/>
              </a:lnSpc>
              <a:buSzPct val="100000"/>
              <a:buChar char="•"/>
            </a:pPr>
            <a:r>
              <a:rPr lang="en-US" sz="900" dirty="0">
                <a:solidFill>
                  <a:srgbClr val="384653"/>
                </a:solidFill>
                <a:latin typeface="Roboto" pitchFamily="34" charset="0"/>
                <a:ea typeface="Roboto" pitchFamily="34" charset="-122"/>
                <a:cs typeface="Roboto" pitchFamily="34" charset="-120"/>
              </a:rPr>
              <a:t>Inference remained lightweight enough for edge deployment on ESP32-class hardware</a:t>
            </a:r>
            <a:endParaRPr lang="en-US" sz="900" dirty="0"/>
          </a:p>
          <a:p>
            <a:pPr marL="342900" indent="-342900" algn="l">
              <a:lnSpc>
                <a:spcPct val="116000"/>
              </a:lnSpc>
              <a:buSzPct val="100000"/>
              <a:buChar char="•"/>
            </a:pPr>
            <a:r>
              <a:rPr lang="en-US" sz="900" dirty="0">
                <a:solidFill>
                  <a:srgbClr val="384653"/>
                </a:solidFill>
                <a:latin typeface="Roboto" pitchFamily="34" charset="0"/>
                <a:ea typeface="Roboto" pitchFamily="34" charset="-122"/>
                <a:cs typeface="Roboto" pitchFamily="34" charset="-120"/>
              </a:rPr>
              <a:t>Generalized well across varied surface textures and illumination conditions</a:t>
            </a:r>
            <a:endParaRPr lang="en-US" sz="900" dirty="0"/>
          </a:p>
          <a:p>
            <a:pPr marL="342900" indent="-342900" algn="l">
              <a:lnSpc>
                <a:spcPct val="116000"/>
              </a:lnSpc>
              <a:buSzPct val="100000"/>
              <a:buChar char="•"/>
            </a:pPr>
            <a:r>
              <a:rPr lang="en-US" sz="900" dirty="0">
                <a:solidFill>
                  <a:srgbClr val="384653"/>
                </a:solidFill>
                <a:latin typeface="Roboto" pitchFamily="34" charset="0"/>
                <a:ea typeface="Roboto" pitchFamily="34" charset="-122"/>
                <a:cs typeface="Roboto" pitchFamily="34" charset="-120"/>
              </a:rPr>
              <a:t>Crack/no-crack classification remained robust during live field capture</a:t>
            </a:r>
            <a:endParaRPr lang="en-US" sz="900" dirty="0"/>
          </a:p>
        </p:txBody>
      </p:sp>
      <p:sp>
        <p:nvSpPr>
          <p:cNvPr id="9" name="Shape 6"/>
          <p:cNvSpPr/>
          <p:nvPr/>
        </p:nvSpPr>
        <p:spPr>
          <a:xfrm>
            <a:off x="4723730" y="3935090"/>
            <a:ext cx="3928914" cy="619051"/>
          </a:xfrm>
          <a:prstGeom prst="roundRect">
            <a:avLst>
              <a:gd name="adj" fmla="val 8176"/>
            </a:avLst>
          </a:prstGeom>
          <a:solidFill>
            <a:srgbClr val="B6FCB8"/>
          </a:solidFill>
          <a:ln/>
        </p:spPr>
      </p:sp>
      <p:pic>
        <p:nvPicPr>
          <p:cNvPr id="10" name="Image 1" descr="preencoded.png"/>
          <p:cNvPicPr>
            <a:picLocks noChangeAspect="1"/>
          </p:cNvPicPr>
          <p:nvPr/>
        </p:nvPicPr>
        <p:blipFill>
          <a:blip r:embed="rId4"/>
          <a:stretch>
            <a:fillRect/>
          </a:stretch>
        </p:blipFill>
        <p:spPr>
          <a:xfrm>
            <a:off x="4844207" y="4104010"/>
            <a:ext cx="150614" cy="120476"/>
          </a:xfrm>
          <a:prstGeom prst="rect">
            <a:avLst/>
          </a:prstGeom>
        </p:spPr>
      </p:pic>
      <p:sp>
        <p:nvSpPr>
          <p:cNvPr id="11" name="Text 7"/>
          <p:cNvSpPr/>
          <p:nvPr/>
        </p:nvSpPr>
        <p:spPr>
          <a:xfrm>
            <a:off x="5115297" y="4067547"/>
            <a:ext cx="3416871" cy="334268"/>
          </a:xfrm>
          <a:prstGeom prst="rect">
            <a:avLst/>
          </a:prstGeom>
          <a:noFill/>
          <a:ln/>
        </p:spPr>
        <p:txBody>
          <a:bodyPr wrap="square" lIns="0" tIns="0" rIns="0" bIns="0" rtlCol="0" anchor="t">
            <a:normAutofit/>
          </a:bodyPr>
          <a:lstStyle/>
          <a:p>
            <a:pPr marL="0" indent="0" algn="l">
              <a:lnSpc>
                <a:spcPct val="116000"/>
              </a:lnSpc>
              <a:buNone/>
            </a:pPr>
            <a:r>
              <a:rPr lang="en-US" sz="900" dirty="0">
                <a:solidFill>
                  <a:srgbClr val="000000"/>
                </a:solidFill>
                <a:latin typeface="Roboto" pitchFamily="34" charset="0"/>
                <a:ea typeface="Roboto" pitchFamily="34" charset="-122"/>
                <a:cs typeface="Roboto" pitchFamily="34" charset="-120"/>
              </a:rPr>
              <a:t>The model successfully detected hairline cracks as narrow as 0.3 mm on concrete surfaces under natural lighting.</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519261"/>
            <a:ext cx="992312" cy="1323082"/>
          </a:xfrm>
          <a:prstGeom prst="rect">
            <a:avLst/>
          </a:prstGeom>
        </p:spPr>
      </p:pic>
      <p:sp>
        <p:nvSpPr>
          <p:cNvPr id="3" name="Text 0"/>
          <p:cNvSpPr/>
          <p:nvPr/>
        </p:nvSpPr>
        <p:spPr>
          <a:xfrm>
            <a:off x="2017961" y="507950"/>
            <a:ext cx="3292525" cy="354360"/>
          </a:xfrm>
          <a:prstGeom prst="rect">
            <a:avLst/>
          </a:prstGeom>
          <a:noFill/>
          <a:ln/>
        </p:spPr>
        <p:txBody>
          <a:bodyPr wrap="none" lIns="0" tIns="0" rIns="0" bIns="0" rtlCol="0" anchor="t"/>
          <a:lstStyle/>
          <a:p>
            <a:pPr marL="0" indent="0" algn="l">
              <a:lnSpc>
                <a:spcPct val="104000"/>
              </a:lnSpc>
              <a:buNone/>
            </a:pPr>
            <a:r>
              <a:rPr lang="en-US" sz="2200" dirty="0">
                <a:solidFill>
                  <a:srgbClr val="2E3C4E"/>
                </a:solidFill>
                <a:latin typeface="Host Grotesk Medium" pitchFamily="34" charset="0"/>
                <a:ea typeface="Host Grotesk Medium" pitchFamily="34" charset="-122"/>
                <a:cs typeface="Host Grotesk Medium" pitchFamily="34" charset="-120"/>
              </a:rPr>
              <a:t>Conclusion</a:t>
            </a:r>
            <a:endParaRPr lang="en-US" sz="2200" dirty="0"/>
          </a:p>
        </p:txBody>
      </p:sp>
      <p:sp>
        <p:nvSpPr>
          <p:cNvPr id="4" name="Text 1"/>
          <p:cNvSpPr/>
          <p:nvPr/>
        </p:nvSpPr>
        <p:spPr>
          <a:xfrm>
            <a:off x="2017961" y="953021"/>
            <a:ext cx="6634609" cy="459209"/>
          </a:xfrm>
          <a:prstGeom prst="rect">
            <a:avLst/>
          </a:prstGeom>
          <a:noFill/>
          <a:ln/>
        </p:spPr>
        <p:txBody>
          <a:bodyPr wrap="square" lIns="0" tIns="0" rIns="0" bIns="0" rtlCol="0" anchor="t">
            <a:normAutofit/>
          </a:bodyPr>
          <a:lstStyle/>
          <a:p>
            <a:pPr marL="0" indent="0" algn="l">
              <a:lnSpc>
                <a:spcPct val="112000"/>
              </a:lnSpc>
              <a:buNone/>
            </a:pPr>
            <a:r>
              <a:rPr lang="en-US" sz="850" dirty="0">
                <a:solidFill>
                  <a:srgbClr val="384653"/>
                </a:solidFill>
                <a:latin typeface="Roboto" pitchFamily="34" charset="0"/>
                <a:ea typeface="Roboto" pitchFamily="34" charset="-122"/>
                <a:cs typeface="Roboto" pitchFamily="34" charset="-120"/>
              </a:rPr>
              <a:t>This project successfully demonstrates a low-cost, intelligent drone system capable of autonomous structural crack detection using an ESP32-CAM with OV2640 sensor and a CNN-based machine learning model. The final prototype validates that practical aerial inspection can be achieved with compact hardware, edge-based inference, and stable flight performance.</a:t>
            </a:r>
            <a:endParaRPr lang="en-US" sz="850" dirty="0"/>
          </a:p>
        </p:txBody>
      </p:sp>
      <p:sp>
        <p:nvSpPr>
          <p:cNvPr id="5" name="Shape 2"/>
          <p:cNvSpPr/>
          <p:nvPr/>
        </p:nvSpPr>
        <p:spPr>
          <a:xfrm>
            <a:off x="496119" y="2046387"/>
            <a:ext cx="4030489" cy="927125"/>
          </a:xfrm>
          <a:prstGeom prst="roundRect">
            <a:avLst>
              <a:gd name="adj" fmla="val 5138"/>
            </a:avLst>
          </a:prstGeom>
          <a:solidFill>
            <a:srgbClr val="D9EDF2"/>
          </a:solidFill>
          <a:ln w="4763">
            <a:solidFill>
              <a:srgbClr val="BFD3D8"/>
            </a:solidFill>
            <a:prstDash val="solid"/>
          </a:ln>
        </p:spPr>
      </p:sp>
      <p:sp>
        <p:nvSpPr>
          <p:cNvPr id="6" name="Text 3"/>
          <p:cNvSpPr/>
          <p:nvPr/>
        </p:nvSpPr>
        <p:spPr>
          <a:xfrm>
            <a:off x="614288" y="2164556"/>
            <a:ext cx="1417662" cy="177180"/>
          </a:xfrm>
          <a:prstGeom prst="rect">
            <a:avLst/>
          </a:prstGeom>
          <a:noFill/>
          <a:ln/>
        </p:spPr>
        <p:txBody>
          <a:bodyPr wrap="none" lIns="0" tIns="0" rIns="0" bIns="0" rtlCol="0" anchor="t"/>
          <a:lstStyle/>
          <a:p>
            <a:pPr marL="0" indent="0" algn="l">
              <a:lnSpc>
                <a:spcPct val="104000"/>
              </a:lnSpc>
              <a:buNone/>
            </a:pPr>
            <a:r>
              <a:rPr lang="en-US" sz="1100" dirty="0">
                <a:solidFill>
                  <a:srgbClr val="384653"/>
                </a:solidFill>
                <a:latin typeface="Host Grotesk Medium" pitchFamily="34" charset="0"/>
                <a:ea typeface="Host Grotesk Medium" pitchFamily="34" charset="-122"/>
                <a:cs typeface="Host Grotesk Medium" pitchFamily="34" charset="-120"/>
              </a:rPr>
              <a:t>Design Validated</a:t>
            </a:r>
            <a:endParaRPr lang="en-US" sz="1100" dirty="0"/>
          </a:p>
        </p:txBody>
      </p:sp>
      <p:sp>
        <p:nvSpPr>
          <p:cNvPr id="7" name="Text 4"/>
          <p:cNvSpPr/>
          <p:nvPr/>
        </p:nvSpPr>
        <p:spPr>
          <a:xfrm>
            <a:off x="614288" y="2396133"/>
            <a:ext cx="3794150" cy="459209"/>
          </a:xfrm>
          <a:prstGeom prst="rect">
            <a:avLst/>
          </a:prstGeom>
          <a:noFill/>
          <a:ln/>
        </p:spPr>
        <p:txBody>
          <a:bodyPr wrap="square" lIns="0" tIns="0" rIns="0" bIns="0" rtlCol="0" anchor="t">
            <a:normAutofit/>
          </a:bodyPr>
          <a:lstStyle/>
          <a:p>
            <a:pPr marL="0" indent="0" algn="l">
              <a:lnSpc>
                <a:spcPct val="112000"/>
              </a:lnSpc>
              <a:buNone/>
            </a:pPr>
            <a:r>
              <a:rPr lang="en-US" sz="850" dirty="0">
                <a:solidFill>
                  <a:srgbClr val="384653"/>
                </a:solidFill>
                <a:latin typeface="Roboto" pitchFamily="34" charset="0"/>
                <a:ea typeface="Roboto" pitchFamily="34" charset="-122"/>
                <a:cs typeface="Roboto" pitchFamily="34" charset="-120"/>
              </a:rPr>
              <a:t>CFD analysis confirmed aerodynamic stability and minimal sensor interference in the final drone CAD model, supporting reliable hover and consistent image capture during inspection.</a:t>
            </a:r>
            <a:endParaRPr lang="en-US" sz="850" dirty="0"/>
          </a:p>
        </p:txBody>
      </p:sp>
      <p:sp>
        <p:nvSpPr>
          <p:cNvPr id="8" name="Shape 5"/>
          <p:cNvSpPr/>
          <p:nvPr/>
        </p:nvSpPr>
        <p:spPr>
          <a:xfrm>
            <a:off x="4617318" y="2046387"/>
            <a:ext cx="4030563" cy="927125"/>
          </a:xfrm>
          <a:prstGeom prst="roundRect">
            <a:avLst>
              <a:gd name="adj" fmla="val 5138"/>
            </a:avLst>
          </a:prstGeom>
          <a:solidFill>
            <a:srgbClr val="D9EDF2"/>
          </a:solidFill>
          <a:ln w="4763">
            <a:solidFill>
              <a:srgbClr val="BFD3D8"/>
            </a:solidFill>
            <a:prstDash val="solid"/>
          </a:ln>
        </p:spPr>
      </p:sp>
      <p:sp>
        <p:nvSpPr>
          <p:cNvPr id="9" name="Text 6"/>
          <p:cNvSpPr/>
          <p:nvPr/>
        </p:nvSpPr>
        <p:spPr>
          <a:xfrm>
            <a:off x="4735488" y="2164556"/>
            <a:ext cx="1417662" cy="177180"/>
          </a:xfrm>
          <a:prstGeom prst="rect">
            <a:avLst/>
          </a:prstGeom>
          <a:noFill/>
          <a:ln/>
        </p:spPr>
        <p:txBody>
          <a:bodyPr wrap="none" lIns="0" tIns="0" rIns="0" bIns="0" rtlCol="0" anchor="t"/>
          <a:lstStyle/>
          <a:p>
            <a:pPr marL="0" indent="0" algn="l">
              <a:lnSpc>
                <a:spcPct val="104000"/>
              </a:lnSpc>
              <a:buNone/>
            </a:pPr>
            <a:r>
              <a:rPr lang="en-US" sz="1100" dirty="0">
                <a:solidFill>
                  <a:srgbClr val="384653"/>
                </a:solidFill>
                <a:latin typeface="Host Grotesk Medium" pitchFamily="34" charset="0"/>
                <a:ea typeface="Host Grotesk Medium" pitchFamily="34" charset="-122"/>
                <a:cs typeface="Host Grotesk Medium" pitchFamily="34" charset="-120"/>
              </a:rPr>
              <a:t>ML Deployed</a:t>
            </a:r>
            <a:endParaRPr lang="en-US" sz="1100" dirty="0"/>
          </a:p>
        </p:txBody>
      </p:sp>
      <p:sp>
        <p:nvSpPr>
          <p:cNvPr id="10" name="Text 7"/>
          <p:cNvSpPr/>
          <p:nvPr/>
        </p:nvSpPr>
        <p:spPr>
          <a:xfrm>
            <a:off x="4735488" y="2396133"/>
            <a:ext cx="3794224" cy="459209"/>
          </a:xfrm>
          <a:prstGeom prst="rect">
            <a:avLst/>
          </a:prstGeom>
          <a:noFill/>
          <a:ln/>
        </p:spPr>
        <p:txBody>
          <a:bodyPr wrap="square" lIns="0" tIns="0" rIns="0" bIns="0" rtlCol="0" anchor="t">
            <a:normAutofit/>
          </a:bodyPr>
          <a:lstStyle/>
          <a:p>
            <a:pPr marL="0" indent="0" algn="l">
              <a:lnSpc>
                <a:spcPct val="112000"/>
              </a:lnSpc>
              <a:buNone/>
            </a:pPr>
            <a:r>
              <a:rPr lang="en-US" sz="850" dirty="0">
                <a:solidFill>
                  <a:srgbClr val="384653"/>
                </a:solidFill>
                <a:latin typeface="Roboto" pitchFamily="34" charset="0"/>
                <a:ea typeface="Roboto" pitchFamily="34" charset="-122"/>
                <a:cs typeface="Roboto" pitchFamily="34" charset="-120"/>
              </a:rPr>
              <a:t>A quantized CNN model runs on-edge via ESP32, achieving ~92% accuracy for real-time crack classification while keeping inference lightweight enough for embedded deployment.</a:t>
            </a:r>
            <a:endParaRPr lang="en-US" sz="850" dirty="0"/>
          </a:p>
        </p:txBody>
      </p:sp>
      <p:sp>
        <p:nvSpPr>
          <p:cNvPr id="11" name="Shape 8"/>
          <p:cNvSpPr/>
          <p:nvPr/>
        </p:nvSpPr>
        <p:spPr>
          <a:xfrm>
            <a:off x="496119" y="3064222"/>
            <a:ext cx="4030489" cy="927125"/>
          </a:xfrm>
          <a:prstGeom prst="roundRect">
            <a:avLst>
              <a:gd name="adj" fmla="val 5138"/>
            </a:avLst>
          </a:prstGeom>
          <a:solidFill>
            <a:srgbClr val="D9EDF2"/>
          </a:solidFill>
          <a:ln w="4763">
            <a:solidFill>
              <a:srgbClr val="BFD3D8"/>
            </a:solidFill>
            <a:prstDash val="solid"/>
          </a:ln>
        </p:spPr>
      </p:sp>
      <p:sp>
        <p:nvSpPr>
          <p:cNvPr id="12" name="Text 9"/>
          <p:cNvSpPr/>
          <p:nvPr/>
        </p:nvSpPr>
        <p:spPr>
          <a:xfrm>
            <a:off x="614288" y="3182392"/>
            <a:ext cx="1417662" cy="177180"/>
          </a:xfrm>
          <a:prstGeom prst="rect">
            <a:avLst/>
          </a:prstGeom>
          <a:noFill/>
          <a:ln/>
        </p:spPr>
        <p:txBody>
          <a:bodyPr wrap="none" lIns="0" tIns="0" rIns="0" bIns="0" rtlCol="0" anchor="t"/>
          <a:lstStyle/>
          <a:p>
            <a:pPr marL="0" indent="0" algn="l">
              <a:lnSpc>
                <a:spcPct val="104000"/>
              </a:lnSpc>
              <a:buNone/>
            </a:pPr>
            <a:r>
              <a:rPr lang="en-US" sz="1100" dirty="0">
                <a:solidFill>
                  <a:srgbClr val="384653"/>
                </a:solidFill>
                <a:latin typeface="Host Grotesk Medium" pitchFamily="34" charset="0"/>
                <a:ea typeface="Host Grotesk Medium" pitchFamily="34" charset="-122"/>
                <a:cs typeface="Host Grotesk Medium" pitchFamily="34" charset="-120"/>
              </a:rPr>
              <a:t>System Integrated</a:t>
            </a:r>
            <a:endParaRPr lang="en-US" sz="1100" dirty="0"/>
          </a:p>
        </p:txBody>
      </p:sp>
      <p:sp>
        <p:nvSpPr>
          <p:cNvPr id="13" name="Text 10"/>
          <p:cNvSpPr/>
          <p:nvPr/>
        </p:nvSpPr>
        <p:spPr>
          <a:xfrm>
            <a:off x="614288" y="3413968"/>
            <a:ext cx="3794150" cy="459209"/>
          </a:xfrm>
          <a:prstGeom prst="rect">
            <a:avLst/>
          </a:prstGeom>
          <a:noFill/>
          <a:ln/>
        </p:spPr>
        <p:txBody>
          <a:bodyPr wrap="square" lIns="0" tIns="0" rIns="0" bIns="0" rtlCol="0" anchor="t">
            <a:normAutofit/>
          </a:bodyPr>
          <a:lstStyle/>
          <a:p>
            <a:pPr marL="0" indent="0" algn="l">
              <a:lnSpc>
                <a:spcPct val="112000"/>
              </a:lnSpc>
              <a:buNone/>
            </a:pPr>
            <a:r>
              <a:rPr lang="en-US" sz="850" dirty="0">
                <a:solidFill>
                  <a:srgbClr val="384653"/>
                </a:solidFill>
                <a:latin typeface="Roboto" pitchFamily="34" charset="0"/>
                <a:ea typeface="Roboto" pitchFamily="34" charset="-122"/>
                <a:cs typeface="Roboto" pitchFamily="34" charset="-120"/>
              </a:rPr>
              <a:t>The OV2640 camera mount, ESP32 controller, and drone frame are fully integrated into a functional inspection platform designed for repeatable field testing.</a:t>
            </a:r>
            <a:endParaRPr lang="en-US" sz="850" dirty="0"/>
          </a:p>
        </p:txBody>
      </p:sp>
      <p:sp>
        <p:nvSpPr>
          <p:cNvPr id="14" name="Shape 11"/>
          <p:cNvSpPr/>
          <p:nvPr/>
        </p:nvSpPr>
        <p:spPr>
          <a:xfrm>
            <a:off x="4617318" y="3064222"/>
            <a:ext cx="4030563" cy="927125"/>
          </a:xfrm>
          <a:prstGeom prst="roundRect">
            <a:avLst>
              <a:gd name="adj" fmla="val 5138"/>
            </a:avLst>
          </a:prstGeom>
          <a:solidFill>
            <a:srgbClr val="D9EDF2"/>
          </a:solidFill>
          <a:ln w="4763">
            <a:solidFill>
              <a:srgbClr val="BFD3D8"/>
            </a:solidFill>
            <a:prstDash val="solid"/>
          </a:ln>
        </p:spPr>
      </p:sp>
      <p:sp>
        <p:nvSpPr>
          <p:cNvPr id="15" name="Text 12"/>
          <p:cNvSpPr/>
          <p:nvPr/>
        </p:nvSpPr>
        <p:spPr>
          <a:xfrm>
            <a:off x="4735488" y="3182392"/>
            <a:ext cx="1417662" cy="177180"/>
          </a:xfrm>
          <a:prstGeom prst="rect">
            <a:avLst/>
          </a:prstGeom>
          <a:noFill/>
          <a:ln/>
        </p:spPr>
        <p:txBody>
          <a:bodyPr wrap="none" lIns="0" tIns="0" rIns="0" bIns="0" rtlCol="0" anchor="t"/>
          <a:lstStyle/>
          <a:p>
            <a:pPr marL="0" indent="0" algn="l">
              <a:lnSpc>
                <a:spcPct val="104000"/>
              </a:lnSpc>
              <a:buNone/>
            </a:pPr>
            <a:r>
              <a:rPr lang="en-US" sz="1100" dirty="0">
                <a:solidFill>
                  <a:srgbClr val="384653"/>
                </a:solidFill>
                <a:latin typeface="Host Grotesk Medium" pitchFamily="34" charset="0"/>
                <a:ea typeface="Host Grotesk Medium" pitchFamily="34" charset="-122"/>
                <a:cs typeface="Host Grotesk Medium" pitchFamily="34" charset="-120"/>
              </a:rPr>
              <a:t>Future Scope</a:t>
            </a:r>
            <a:endParaRPr lang="en-US" sz="1100" dirty="0"/>
          </a:p>
        </p:txBody>
      </p:sp>
      <p:sp>
        <p:nvSpPr>
          <p:cNvPr id="16" name="Text 13"/>
          <p:cNvSpPr/>
          <p:nvPr/>
        </p:nvSpPr>
        <p:spPr>
          <a:xfrm>
            <a:off x="4735488" y="3413968"/>
            <a:ext cx="3794224" cy="459209"/>
          </a:xfrm>
          <a:prstGeom prst="rect">
            <a:avLst/>
          </a:prstGeom>
          <a:noFill/>
          <a:ln/>
        </p:spPr>
        <p:txBody>
          <a:bodyPr wrap="square" lIns="0" tIns="0" rIns="0" bIns="0" rtlCol="0" anchor="t">
            <a:normAutofit/>
          </a:bodyPr>
          <a:lstStyle/>
          <a:p>
            <a:pPr marL="0" indent="0" algn="l">
              <a:lnSpc>
                <a:spcPct val="112000"/>
              </a:lnSpc>
              <a:buNone/>
            </a:pPr>
            <a:r>
              <a:rPr lang="en-US" sz="850" dirty="0">
                <a:solidFill>
                  <a:srgbClr val="384653"/>
                </a:solidFill>
                <a:latin typeface="Roboto" pitchFamily="34" charset="0"/>
                <a:ea typeface="Roboto" pitchFamily="34" charset="-122"/>
                <a:cs typeface="Roboto" pitchFamily="34" charset="-120"/>
              </a:rPr>
              <a:t>Planned extensions include GPS-tagged crack mapping, autonomous path planning, improved crack localization, and expanded training for multi-surface defects under varied lighting and environmental conditions.</a:t>
            </a:r>
            <a:endParaRPr lang="en-US" sz="850" dirty="0"/>
          </a:p>
        </p:txBody>
      </p:sp>
      <p:pic>
        <p:nvPicPr>
          <p:cNvPr id="17" name="Image 1" descr="preencoded.png"/>
          <p:cNvPicPr>
            <a:picLocks noChangeAspect="1"/>
          </p:cNvPicPr>
          <p:nvPr/>
        </p:nvPicPr>
        <p:blipFill>
          <a:blip r:embed="rId4"/>
          <a:stretch>
            <a:fillRect/>
          </a:stretch>
        </p:blipFill>
        <p:spPr>
          <a:xfrm>
            <a:off x="496119" y="4093369"/>
            <a:ext cx="8151763" cy="6044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893588"/>
            <a:ext cx="3292525" cy="354360"/>
          </a:xfrm>
          <a:prstGeom prst="rect">
            <a:avLst/>
          </a:prstGeom>
          <a:noFill/>
          <a:ln/>
        </p:spPr>
        <p:txBody>
          <a:bodyPr wrap="none" lIns="0" tIns="0" rIns="0" bIns="0" rtlCol="0" anchor="t"/>
          <a:lstStyle/>
          <a:p>
            <a:pPr marL="0" indent="0" algn="l">
              <a:lnSpc>
                <a:spcPct val="104000"/>
              </a:lnSpc>
              <a:buNone/>
            </a:pPr>
            <a:r>
              <a:rPr lang="en-US" sz="2200" dirty="0">
                <a:solidFill>
                  <a:srgbClr val="2E3C4E"/>
                </a:solidFill>
                <a:latin typeface="Host Grotesk Medium" pitchFamily="34" charset="0"/>
                <a:ea typeface="Host Grotesk Medium" pitchFamily="34" charset="-122"/>
                <a:cs typeface="Host Grotesk Medium" pitchFamily="34" charset="-120"/>
              </a:rPr>
              <a:t>Future Work</a:t>
            </a:r>
            <a:endParaRPr lang="en-US" sz="2200" dirty="0"/>
          </a:p>
        </p:txBody>
      </p:sp>
      <p:sp>
        <p:nvSpPr>
          <p:cNvPr id="3" name="Text 1"/>
          <p:cNvSpPr/>
          <p:nvPr/>
        </p:nvSpPr>
        <p:spPr>
          <a:xfrm>
            <a:off x="496119" y="2260029"/>
            <a:ext cx="8151763" cy="1261244"/>
          </a:xfrm>
          <a:prstGeom prst="rect">
            <a:avLst/>
          </a:prstGeom>
          <a:noFill/>
          <a:ln/>
        </p:spPr>
        <p:txBody>
          <a:bodyPr wrap="square" lIns="0" tIns="0" rIns="0" bIns="0" rtlCol="0" anchor="t">
            <a:noAutofit/>
          </a:bodyPr>
          <a:lstStyle/>
          <a:p>
            <a:pPr marL="342900" indent="-342900" algn="l">
              <a:lnSpc>
                <a:spcPct val="125000"/>
              </a:lnSpc>
              <a:buSzPct val="100000"/>
              <a:buChar char="•"/>
            </a:pPr>
            <a:r>
              <a:rPr lang="en-US" dirty="0">
                <a:solidFill>
                  <a:srgbClr val="384653"/>
                </a:solidFill>
                <a:latin typeface="Roboto" pitchFamily="34" charset="0"/>
                <a:ea typeface="Roboto" pitchFamily="34" charset="-122"/>
                <a:cs typeface="Roboto" pitchFamily="34" charset="-120"/>
              </a:rPr>
              <a:t>Integrate GPS and mapping for location-aware defect reporting</a:t>
            </a:r>
            <a:endParaRPr lang="en-US" dirty="0"/>
          </a:p>
          <a:p>
            <a:pPr marL="342900" indent="-342900" algn="l">
              <a:lnSpc>
                <a:spcPct val="125000"/>
              </a:lnSpc>
              <a:buSzPct val="100000"/>
              <a:buChar char="•"/>
            </a:pPr>
            <a:r>
              <a:rPr lang="en-US" dirty="0">
                <a:solidFill>
                  <a:srgbClr val="384653"/>
                </a:solidFill>
                <a:latin typeface="Roboto" pitchFamily="34" charset="0"/>
                <a:ea typeface="Roboto" pitchFamily="34" charset="-122"/>
                <a:cs typeface="Roboto" pitchFamily="34" charset="-120"/>
              </a:rPr>
              <a:t>Enhance autonomy with waypoint navigation and obstacle avoidance</a:t>
            </a:r>
            <a:endParaRPr lang="en-US" dirty="0"/>
          </a:p>
          <a:p>
            <a:pPr marL="342900" indent="-342900" algn="l">
              <a:lnSpc>
                <a:spcPct val="125000"/>
              </a:lnSpc>
              <a:buSzPct val="100000"/>
              <a:buChar char="•"/>
            </a:pPr>
            <a:r>
              <a:rPr lang="en-US" dirty="0">
                <a:solidFill>
                  <a:srgbClr val="384653"/>
                </a:solidFill>
                <a:latin typeface="Roboto" pitchFamily="34" charset="0"/>
                <a:ea typeface="Roboto" pitchFamily="34" charset="-122"/>
                <a:cs typeface="Roboto" pitchFamily="34" charset="-120"/>
              </a:rPr>
              <a:t>Improve model robustness with larger datasets and broader crack classes</a:t>
            </a:r>
            <a:endParaRPr lang="en-US" dirty="0"/>
          </a:p>
          <a:p>
            <a:pPr marL="342900" indent="-342900" algn="l">
              <a:lnSpc>
                <a:spcPct val="125000"/>
              </a:lnSpc>
              <a:buSzPct val="100000"/>
              <a:buChar char="•"/>
            </a:pPr>
            <a:r>
              <a:rPr lang="en-US" dirty="0">
                <a:solidFill>
                  <a:srgbClr val="384653"/>
                </a:solidFill>
                <a:latin typeface="Roboto" pitchFamily="34" charset="0"/>
                <a:ea typeface="Roboto" pitchFamily="34" charset="-122"/>
                <a:cs typeface="Roboto" pitchFamily="34" charset="-120"/>
              </a:rPr>
              <a:t>Support multi-surface inspection across concrete, asphalt, and bridge elements</a:t>
            </a:r>
            <a:endParaRPr lang="en-US" dirty="0"/>
          </a:p>
          <a:p>
            <a:pPr marL="342900" indent="-342900" algn="l">
              <a:lnSpc>
                <a:spcPct val="125000"/>
              </a:lnSpc>
              <a:buSzPct val="100000"/>
              <a:buChar char="•"/>
            </a:pPr>
            <a:r>
              <a:rPr lang="en-US" dirty="0">
                <a:solidFill>
                  <a:srgbClr val="384653"/>
                </a:solidFill>
                <a:latin typeface="Roboto" pitchFamily="34" charset="0"/>
                <a:ea typeface="Roboto" pitchFamily="34" charset="-122"/>
                <a:cs typeface="Roboto" pitchFamily="34" charset="-120"/>
              </a:rPr>
              <a:t>Add a reporting dashboard for faster review and maintenance planning</a:t>
            </a:r>
            <a:endParaRPr lang="en-US" dirty="0"/>
          </a:p>
        </p:txBody>
      </p:sp>
      <p:pic>
        <p:nvPicPr>
          <p:cNvPr id="4" name="Image 0" descr="preencoded.png">
            <a:extLst>
              <a:ext uri="{FF2B5EF4-FFF2-40B4-BE49-F238E27FC236}">
                <a16:creationId xmlns:a16="http://schemas.microsoft.com/office/drawing/2014/main" id="{5A7F03AC-85CF-4DAE-A0D0-EC3BDF81832A}"/>
              </a:ext>
            </a:extLst>
          </p:cNvPr>
          <p:cNvPicPr>
            <a:picLocks noChangeAspect="1"/>
          </p:cNvPicPr>
          <p:nvPr/>
        </p:nvPicPr>
        <p:blipFill>
          <a:blip r:embed="rId3"/>
          <a:stretch>
            <a:fillRect/>
          </a:stretch>
        </p:blipFill>
        <p:spPr>
          <a:xfrm>
            <a:off x="310417" y="351349"/>
            <a:ext cx="1439763" cy="41642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65162" y="467990"/>
            <a:ext cx="848618" cy="245418"/>
          </a:xfrm>
          <a:prstGeom prst="rect">
            <a:avLst/>
          </a:prstGeom>
        </p:spPr>
      </p:pic>
      <p:sp>
        <p:nvSpPr>
          <p:cNvPr id="3" name="Text 0"/>
          <p:cNvSpPr/>
          <p:nvPr/>
        </p:nvSpPr>
        <p:spPr>
          <a:xfrm>
            <a:off x="1986260" y="461442"/>
            <a:ext cx="4454575" cy="269900"/>
          </a:xfrm>
          <a:prstGeom prst="rect">
            <a:avLst/>
          </a:prstGeom>
          <a:noFill/>
          <a:ln/>
        </p:spPr>
        <p:txBody>
          <a:bodyPr wrap="none" lIns="0" tIns="0" rIns="0" bIns="0" rtlCol="0" anchor="t"/>
          <a:lstStyle/>
          <a:p>
            <a:pPr marL="0" indent="0" algn="l">
              <a:lnSpc>
                <a:spcPct val="104000"/>
              </a:lnSpc>
              <a:buNone/>
            </a:pPr>
            <a:r>
              <a:rPr lang="en-US" sz="1700" dirty="0">
                <a:solidFill>
                  <a:srgbClr val="2E3C4E"/>
                </a:solidFill>
                <a:latin typeface="Host Grotesk Medium" pitchFamily="34" charset="0"/>
                <a:ea typeface="Host Grotesk Medium" pitchFamily="34" charset="-122"/>
                <a:cs typeface="Host Grotesk Medium" pitchFamily="34" charset="-120"/>
              </a:rPr>
              <a:t>Project Gantt Chart — 3-Month Timeline</a:t>
            </a:r>
            <a:endParaRPr lang="en-US" sz="1700" dirty="0"/>
          </a:p>
        </p:txBody>
      </p:sp>
      <p:sp>
        <p:nvSpPr>
          <p:cNvPr id="4" name="Text 1"/>
          <p:cNvSpPr/>
          <p:nvPr/>
        </p:nvSpPr>
        <p:spPr>
          <a:xfrm>
            <a:off x="1986260" y="783952"/>
            <a:ext cx="7154466"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The project is structured across three months, covering design, fabrication, integration, CFD analysis, ML development, and testing phases.</a:t>
            </a:r>
            <a:endParaRPr lang="en-US" sz="650" dirty="0"/>
          </a:p>
        </p:txBody>
      </p:sp>
      <p:sp>
        <p:nvSpPr>
          <p:cNvPr id="5" name="Shape 2"/>
          <p:cNvSpPr/>
          <p:nvPr/>
        </p:nvSpPr>
        <p:spPr>
          <a:xfrm>
            <a:off x="465162" y="994693"/>
            <a:ext cx="8213675" cy="3411885"/>
          </a:xfrm>
          <a:prstGeom prst="roundRect">
            <a:avLst>
              <a:gd name="adj" fmla="val 1063"/>
            </a:avLst>
          </a:prstGeom>
          <a:noFill/>
          <a:ln w="4763">
            <a:solidFill>
              <a:srgbClr val="000000">
                <a:alpha val="8000"/>
              </a:srgbClr>
            </a:solidFill>
            <a:prstDash val="solid"/>
          </a:ln>
        </p:spPr>
      </p:sp>
      <p:sp>
        <p:nvSpPr>
          <p:cNvPr id="6" name="Text 3"/>
          <p:cNvSpPr/>
          <p:nvPr/>
        </p:nvSpPr>
        <p:spPr>
          <a:xfrm>
            <a:off x="556394" y="1035769"/>
            <a:ext cx="2743423" cy="104254"/>
          </a:xfrm>
          <a:prstGeom prst="rect">
            <a:avLst/>
          </a:prstGeom>
          <a:noFill/>
          <a:ln/>
        </p:spPr>
        <p:txBody>
          <a:bodyPr wrap="none" lIns="0" tIns="0" rIns="0" bIns="0" rtlCol="0" anchor="t"/>
          <a:lstStyle/>
          <a:p>
            <a:pPr marL="0" indent="0" algn="l">
              <a:lnSpc>
                <a:spcPct val="101000"/>
              </a:lnSpc>
              <a:buNone/>
            </a:pPr>
            <a:r>
              <a:rPr lang="en-US" sz="650" b="1" dirty="0">
                <a:solidFill>
                  <a:srgbClr val="384653"/>
                </a:solidFill>
                <a:latin typeface="Roboto" pitchFamily="34" charset="0"/>
                <a:ea typeface="Roboto" pitchFamily="34" charset="-122"/>
                <a:cs typeface="Roboto" pitchFamily="34" charset="-120"/>
              </a:rPr>
              <a:t>Activity</a:t>
            </a:r>
            <a:endParaRPr lang="en-US" sz="650" dirty="0"/>
          </a:p>
        </p:txBody>
      </p:sp>
      <p:sp>
        <p:nvSpPr>
          <p:cNvPr id="7" name="Text 4"/>
          <p:cNvSpPr/>
          <p:nvPr/>
        </p:nvSpPr>
        <p:spPr>
          <a:xfrm>
            <a:off x="3020020" y="1035769"/>
            <a:ext cx="1053182" cy="208508"/>
          </a:xfrm>
          <a:prstGeom prst="rect">
            <a:avLst/>
          </a:prstGeom>
          <a:noFill/>
          <a:ln/>
        </p:spPr>
        <p:txBody>
          <a:bodyPr wrap="square" lIns="0" tIns="0" rIns="0" bIns="0" rtlCol="0" anchor="t">
            <a:normAutofit/>
          </a:bodyPr>
          <a:lstStyle/>
          <a:p>
            <a:pPr marL="0" indent="0" algn="l">
              <a:lnSpc>
                <a:spcPct val="101000"/>
              </a:lnSpc>
              <a:buNone/>
            </a:pPr>
            <a:r>
              <a:rPr lang="en-US" sz="650" b="1" dirty="0">
                <a:solidFill>
                  <a:srgbClr val="384653"/>
                </a:solidFill>
                <a:latin typeface="Roboto" pitchFamily="34" charset="0"/>
                <a:ea typeface="Roboto" pitchFamily="34" charset="-122"/>
                <a:cs typeface="Roboto" pitchFamily="34" charset="-120"/>
              </a:rPr>
              <a:t>Month 1</a:t>
            </a:r>
            <a:endParaRPr lang="en-US" sz="650" dirty="0"/>
          </a:p>
          <a:p>
            <a:pPr marL="0" indent="0" algn="l">
              <a:lnSpc>
                <a:spcPct val="101000"/>
              </a:lnSpc>
              <a:buNone/>
            </a:pPr>
            <a:r>
              <a:rPr lang="en-US" sz="650" b="1" dirty="0">
                <a:solidFill>
                  <a:srgbClr val="384653"/>
                </a:solidFill>
                <a:latin typeface="Roboto" pitchFamily="34" charset="0"/>
                <a:ea typeface="Roboto" pitchFamily="34" charset="-122"/>
                <a:cs typeface="Roboto" pitchFamily="34" charset="-120"/>
              </a:rPr>
              <a:t>(Weeks 1–4)</a:t>
            </a:r>
            <a:endParaRPr lang="en-US" sz="650" dirty="0"/>
          </a:p>
        </p:txBody>
      </p:sp>
      <p:sp>
        <p:nvSpPr>
          <p:cNvPr id="8" name="Text 5"/>
          <p:cNvSpPr/>
          <p:nvPr/>
        </p:nvSpPr>
        <p:spPr>
          <a:xfrm>
            <a:off x="4250606" y="1035769"/>
            <a:ext cx="1053182" cy="208508"/>
          </a:xfrm>
          <a:prstGeom prst="rect">
            <a:avLst/>
          </a:prstGeom>
          <a:noFill/>
          <a:ln/>
        </p:spPr>
        <p:txBody>
          <a:bodyPr wrap="square" lIns="0" tIns="0" rIns="0" bIns="0" rtlCol="0" anchor="t">
            <a:normAutofit/>
          </a:bodyPr>
          <a:lstStyle/>
          <a:p>
            <a:pPr marL="0" indent="0" algn="l">
              <a:lnSpc>
                <a:spcPct val="101000"/>
              </a:lnSpc>
              <a:buNone/>
            </a:pPr>
            <a:r>
              <a:rPr lang="en-US" sz="650" b="1" dirty="0">
                <a:solidFill>
                  <a:srgbClr val="384653"/>
                </a:solidFill>
                <a:latin typeface="Roboto" pitchFamily="34" charset="0"/>
                <a:ea typeface="Roboto" pitchFamily="34" charset="-122"/>
                <a:cs typeface="Roboto" pitchFamily="34" charset="-120"/>
              </a:rPr>
              <a:t>Month 2</a:t>
            </a:r>
            <a:endParaRPr lang="en-US" sz="650" dirty="0"/>
          </a:p>
          <a:p>
            <a:pPr marL="0" indent="0" algn="l">
              <a:lnSpc>
                <a:spcPct val="101000"/>
              </a:lnSpc>
              <a:buNone/>
            </a:pPr>
            <a:r>
              <a:rPr lang="en-US" sz="650" b="1" dirty="0">
                <a:solidFill>
                  <a:srgbClr val="384653"/>
                </a:solidFill>
                <a:latin typeface="Roboto" pitchFamily="34" charset="0"/>
                <a:ea typeface="Roboto" pitchFamily="34" charset="-122"/>
                <a:cs typeface="Roboto" pitchFamily="34" charset="-120"/>
              </a:rPr>
              <a:t>(Weeks 5–8)</a:t>
            </a:r>
            <a:endParaRPr lang="en-US" sz="650" dirty="0"/>
          </a:p>
        </p:txBody>
      </p:sp>
      <p:sp>
        <p:nvSpPr>
          <p:cNvPr id="9" name="Text 6"/>
          <p:cNvSpPr/>
          <p:nvPr/>
        </p:nvSpPr>
        <p:spPr>
          <a:xfrm>
            <a:off x="5481191" y="1035769"/>
            <a:ext cx="1053182" cy="208508"/>
          </a:xfrm>
          <a:prstGeom prst="rect">
            <a:avLst/>
          </a:prstGeom>
          <a:noFill/>
          <a:ln/>
        </p:spPr>
        <p:txBody>
          <a:bodyPr wrap="square" lIns="0" tIns="0" rIns="0" bIns="0" rtlCol="0" anchor="t">
            <a:normAutofit/>
          </a:bodyPr>
          <a:lstStyle/>
          <a:p>
            <a:pPr marL="0" indent="0" algn="l">
              <a:lnSpc>
                <a:spcPct val="101000"/>
              </a:lnSpc>
              <a:buNone/>
            </a:pPr>
            <a:r>
              <a:rPr lang="en-US" sz="650" b="1" dirty="0">
                <a:solidFill>
                  <a:srgbClr val="384653"/>
                </a:solidFill>
                <a:latin typeface="Roboto" pitchFamily="34" charset="0"/>
                <a:ea typeface="Roboto" pitchFamily="34" charset="-122"/>
                <a:cs typeface="Roboto" pitchFamily="34" charset="-120"/>
              </a:rPr>
              <a:t>Month 3</a:t>
            </a:r>
            <a:endParaRPr lang="en-US" sz="650" dirty="0"/>
          </a:p>
          <a:p>
            <a:pPr marL="0" indent="0" algn="l">
              <a:lnSpc>
                <a:spcPct val="101000"/>
              </a:lnSpc>
              <a:buNone/>
            </a:pPr>
            <a:r>
              <a:rPr lang="en-US" sz="650" b="1" dirty="0">
                <a:solidFill>
                  <a:srgbClr val="384653"/>
                </a:solidFill>
                <a:latin typeface="Roboto" pitchFamily="34" charset="0"/>
                <a:ea typeface="Roboto" pitchFamily="34" charset="-122"/>
                <a:cs typeface="Roboto" pitchFamily="34" charset="-120"/>
              </a:rPr>
              <a:t>(Weeks 9–12)</a:t>
            </a:r>
            <a:endParaRPr lang="en-US" sz="650" dirty="0"/>
          </a:p>
        </p:txBody>
      </p:sp>
      <p:sp>
        <p:nvSpPr>
          <p:cNvPr id="10" name="Text 7"/>
          <p:cNvSpPr/>
          <p:nvPr/>
        </p:nvSpPr>
        <p:spPr>
          <a:xfrm>
            <a:off x="6711776" y="1035769"/>
            <a:ext cx="2333179" cy="104254"/>
          </a:xfrm>
          <a:prstGeom prst="rect">
            <a:avLst/>
          </a:prstGeom>
          <a:noFill/>
          <a:ln/>
        </p:spPr>
        <p:txBody>
          <a:bodyPr wrap="none" lIns="0" tIns="0" rIns="0" bIns="0" rtlCol="0" anchor="t"/>
          <a:lstStyle/>
          <a:p>
            <a:pPr marL="0" indent="0" algn="l">
              <a:lnSpc>
                <a:spcPct val="101000"/>
              </a:lnSpc>
              <a:buNone/>
            </a:pPr>
            <a:r>
              <a:rPr lang="en-US" sz="650" b="1" dirty="0">
                <a:solidFill>
                  <a:srgbClr val="384653"/>
                </a:solidFill>
                <a:latin typeface="Roboto" pitchFamily="34" charset="0"/>
                <a:ea typeface="Roboto" pitchFamily="34" charset="-122"/>
                <a:cs typeface="Roboto" pitchFamily="34" charset="-120"/>
              </a:rPr>
              <a:t>Milestone Description</a:t>
            </a:r>
            <a:endParaRPr lang="en-US" sz="650" dirty="0"/>
          </a:p>
        </p:txBody>
      </p:sp>
      <p:sp>
        <p:nvSpPr>
          <p:cNvPr id="11" name="Text 8"/>
          <p:cNvSpPr/>
          <p:nvPr/>
        </p:nvSpPr>
        <p:spPr>
          <a:xfrm>
            <a:off x="556394" y="1321668"/>
            <a:ext cx="2743423"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Literature Survey &amp; Component Selection</a:t>
            </a:r>
            <a:endParaRPr lang="en-US" sz="650" dirty="0"/>
          </a:p>
        </p:txBody>
      </p:sp>
      <p:sp>
        <p:nvSpPr>
          <p:cNvPr id="12" name="Text 9"/>
          <p:cNvSpPr/>
          <p:nvPr/>
        </p:nvSpPr>
        <p:spPr>
          <a:xfrm>
            <a:off x="3020020" y="1321668"/>
            <a:ext cx="1510382"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a:t>
            </a:r>
            <a:endParaRPr lang="en-US" sz="650" dirty="0"/>
          </a:p>
        </p:txBody>
      </p:sp>
      <p:sp>
        <p:nvSpPr>
          <p:cNvPr id="13" name="Text 10"/>
          <p:cNvSpPr/>
          <p:nvPr/>
        </p:nvSpPr>
        <p:spPr>
          <a:xfrm>
            <a:off x="4250606" y="1321668"/>
            <a:ext cx="1510382"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14" name="Text 11"/>
          <p:cNvSpPr/>
          <p:nvPr/>
        </p:nvSpPr>
        <p:spPr>
          <a:xfrm>
            <a:off x="5481191" y="1321668"/>
            <a:ext cx="1510382"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15" name="Text 12"/>
          <p:cNvSpPr/>
          <p:nvPr/>
        </p:nvSpPr>
        <p:spPr>
          <a:xfrm>
            <a:off x="6711776" y="1321668"/>
            <a:ext cx="1875979" cy="312762"/>
          </a:xfrm>
          <a:prstGeom prst="rect">
            <a:avLst/>
          </a:prstGeom>
          <a:noFill/>
          <a:ln/>
        </p:spPr>
        <p:txBody>
          <a:bodyPr wrap="square" lIns="0" tIns="0" rIns="0" bIns="0" rtlCol="0" anchor="t">
            <a:normAutofit/>
          </a:bodyPr>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Define the system scope, shortlist the ESP32-CAM, OV2640, frame materials, and review prior crack-detection workflows.</a:t>
            </a:r>
            <a:endParaRPr lang="en-US" sz="650" dirty="0"/>
          </a:p>
        </p:txBody>
      </p:sp>
      <p:sp>
        <p:nvSpPr>
          <p:cNvPr id="16" name="Text 13"/>
          <p:cNvSpPr/>
          <p:nvPr/>
        </p:nvSpPr>
        <p:spPr>
          <a:xfrm>
            <a:off x="556394" y="1711821"/>
            <a:ext cx="2743423"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Drone CAD Modeling</a:t>
            </a:r>
            <a:endParaRPr lang="en-US" sz="650" dirty="0"/>
          </a:p>
        </p:txBody>
      </p:sp>
      <p:sp>
        <p:nvSpPr>
          <p:cNvPr id="17" name="Text 14"/>
          <p:cNvSpPr/>
          <p:nvPr/>
        </p:nvSpPr>
        <p:spPr>
          <a:xfrm>
            <a:off x="3020020" y="1711821"/>
            <a:ext cx="1510382"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a:t>
            </a:r>
            <a:endParaRPr lang="en-US" sz="650" dirty="0"/>
          </a:p>
        </p:txBody>
      </p:sp>
      <p:sp>
        <p:nvSpPr>
          <p:cNvPr id="18" name="Text 15"/>
          <p:cNvSpPr/>
          <p:nvPr/>
        </p:nvSpPr>
        <p:spPr>
          <a:xfrm>
            <a:off x="4250606" y="1711821"/>
            <a:ext cx="1510382"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a:t>
            </a:r>
            <a:endParaRPr lang="en-US" sz="650" dirty="0"/>
          </a:p>
        </p:txBody>
      </p:sp>
      <p:sp>
        <p:nvSpPr>
          <p:cNvPr id="19" name="Text 16"/>
          <p:cNvSpPr/>
          <p:nvPr/>
        </p:nvSpPr>
        <p:spPr>
          <a:xfrm>
            <a:off x="5481191" y="1711821"/>
            <a:ext cx="1510382"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20" name="Text 17"/>
          <p:cNvSpPr/>
          <p:nvPr/>
        </p:nvSpPr>
        <p:spPr>
          <a:xfrm>
            <a:off x="6711776" y="1711821"/>
            <a:ext cx="1875979" cy="312762"/>
          </a:xfrm>
          <a:prstGeom prst="rect">
            <a:avLst/>
          </a:prstGeom>
          <a:noFill/>
          <a:ln/>
        </p:spPr>
        <p:txBody>
          <a:bodyPr wrap="square" lIns="0" tIns="0" rIns="0" bIns="0" rtlCol="0" anchor="t">
            <a:normAutofit/>
          </a:bodyPr>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Build and refine the drone frame and sensor mount geometry, ensuring compatibility with the camera, controller, and payload limits.</a:t>
            </a:r>
            <a:endParaRPr lang="en-US" sz="650" dirty="0"/>
          </a:p>
        </p:txBody>
      </p:sp>
      <p:sp>
        <p:nvSpPr>
          <p:cNvPr id="21" name="Text 18"/>
          <p:cNvSpPr/>
          <p:nvPr/>
        </p:nvSpPr>
        <p:spPr>
          <a:xfrm>
            <a:off x="556394" y="2101974"/>
            <a:ext cx="2743423"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CFD Analysis (ANSYS / SolidWorks)</a:t>
            </a:r>
            <a:endParaRPr lang="en-US" sz="650" dirty="0"/>
          </a:p>
        </p:txBody>
      </p:sp>
      <p:sp>
        <p:nvSpPr>
          <p:cNvPr id="22" name="Text 19"/>
          <p:cNvSpPr/>
          <p:nvPr/>
        </p:nvSpPr>
        <p:spPr>
          <a:xfrm>
            <a:off x="3020020" y="2101974"/>
            <a:ext cx="1510382"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23" name="Text 20"/>
          <p:cNvSpPr/>
          <p:nvPr/>
        </p:nvSpPr>
        <p:spPr>
          <a:xfrm>
            <a:off x="4250606" y="2101974"/>
            <a:ext cx="1510382"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a:t>
            </a:r>
            <a:endParaRPr lang="en-US" sz="650" dirty="0"/>
          </a:p>
        </p:txBody>
      </p:sp>
      <p:sp>
        <p:nvSpPr>
          <p:cNvPr id="24" name="Text 21"/>
          <p:cNvSpPr/>
          <p:nvPr/>
        </p:nvSpPr>
        <p:spPr>
          <a:xfrm>
            <a:off x="5481191" y="2101974"/>
            <a:ext cx="1510382"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25" name="Text 22"/>
          <p:cNvSpPr/>
          <p:nvPr/>
        </p:nvSpPr>
        <p:spPr>
          <a:xfrm>
            <a:off x="6711776" y="2101974"/>
            <a:ext cx="1875979" cy="312762"/>
          </a:xfrm>
          <a:prstGeom prst="rect">
            <a:avLst/>
          </a:prstGeom>
          <a:noFill/>
          <a:ln/>
        </p:spPr>
        <p:txBody>
          <a:bodyPr wrap="square" lIns="0" tIns="0" rIns="0" bIns="0" rtlCol="0" anchor="t">
            <a:normAutofit/>
          </a:bodyPr>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Validate aerodynamic stability, airflow behavior, and structural feasibility before fabrication to reduce design revisions.</a:t>
            </a:r>
            <a:endParaRPr lang="en-US" sz="650" dirty="0"/>
          </a:p>
        </p:txBody>
      </p:sp>
      <p:sp>
        <p:nvSpPr>
          <p:cNvPr id="26" name="Text 23"/>
          <p:cNvSpPr/>
          <p:nvPr/>
        </p:nvSpPr>
        <p:spPr>
          <a:xfrm>
            <a:off x="556394" y="2492127"/>
            <a:ext cx="2743423"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Drone Frame Fabrication &amp; Assembly</a:t>
            </a:r>
            <a:endParaRPr lang="en-US" sz="650" dirty="0"/>
          </a:p>
        </p:txBody>
      </p:sp>
      <p:sp>
        <p:nvSpPr>
          <p:cNvPr id="27" name="Text 24"/>
          <p:cNvSpPr/>
          <p:nvPr/>
        </p:nvSpPr>
        <p:spPr>
          <a:xfrm>
            <a:off x="3020020" y="2492127"/>
            <a:ext cx="1510382"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28" name="Text 25"/>
          <p:cNvSpPr/>
          <p:nvPr/>
        </p:nvSpPr>
        <p:spPr>
          <a:xfrm>
            <a:off x="4250606" y="2492127"/>
            <a:ext cx="1510382"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a:t>
            </a:r>
            <a:endParaRPr lang="en-US" sz="650" dirty="0"/>
          </a:p>
        </p:txBody>
      </p:sp>
      <p:sp>
        <p:nvSpPr>
          <p:cNvPr id="29" name="Text 26"/>
          <p:cNvSpPr/>
          <p:nvPr/>
        </p:nvSpPr>
        <p:spPr>
          <a:xfrm>
            <a:off x="5481191" y="2492127"/>
            <a:ext cx="1510382"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a:t>
            </a:r>
            <a:endParaRPr lang="en-US" sz="650" dirty="0"/>
          </a:p>
        </p:txBody>
      </p:sp>
      <p:sp>
        <p:nvSpPr>
          <p:cNvPr id="30" name="Text 27"/>
          <p:cNvSpPr/>
          <p:nvPr/>
        </p:nvSpPr>
        <p:spPr>
          <a:xfrm>
            <a:off x="6711776" y="2492127"/>
            <a:ext cx="1875979" cy="312762"/>
          </a:xfrm>
          <a:prstGeom prst="rect">
            <a:avLst/>
          </a:prstGeom>
          <a:noFill/>
          <a:ln/>
        </p:spPr>
        <p:txBody>
          <a:bodyPr wrap="square" lIns="0" tIns="0" rIns="0" bIns="0" rtlCol="0" anchor="t">
            <a:normAutofit/>
          </a:bodyPr>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Manufacture the frame, assemble the platform, and complete mechanical fit checks for mounting and balance.</a:t>
            </a:r>
            <a:endParaRPr lang="en-US" sz="650" dirty="0"/>
          </a:p>
        </p:txBody>
      </p:sp>
      <p:sp>
        <p:nvSpPr>
          <p:cNvPr id="31" name="Text 28"/>
          <p:cNvSpPr/>
          <p:nvPr/>
        </p:nvSpPr>
        <p:spPr>
          <a:xfrm>
            <a:off x="556394" y="2882280"/>
            <a:ext cx="2743423"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ESP32-CAM &amp; OV2640 Mount Integration</a:t>
            </a:r>
            <a:endParaRPr lang="en-US" sz="650" dirty="0"/>
          </a:p>
        </p:txBody>
      </p:sp>
      <p:sp>
        <p:nvSpPr>
          <p:cNvPr id="32" name="Text 29"/>
          <p:cNvSpPr/>
          <p:nvPr/>
        </p:nvSpPr>
        <p:spPr>
          <a:xfrm>
            <a:off x="3020020" y="2882280"/>
            <a:ext cx="1510382"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33" name="Text 30"/>
          <p:cNvSpPr/>
          <p:nvPr/>
        </p:nvSpPr>
        <p:spPr>
          <a:xfrm>
            <a:off x="4250606" y="2882280"/>
            <a:ext cx="1510382"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a:t>
            </a:r>
            <a:endParaRPr lang="en-US" sz="650" dirty="0"/>
          </a:p>
        </p:txBody>
      </p:sp>
      <p:sp>
        <p:nvSpPr>
          <p:cNvPr id="34" name="Text 31"/>
          <p:cNvSpPr/>
          <p:nvPr/>
        </p:nvSpPr>
        <p:spPr>
          <a:xfrm>
            <a:off x="5481191" y="2882280"/>
            <a:ext cx="1510382"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a:t>
            </a:r>
            <a:endParaRPr lang="en-US" sz="650" dirty="0"/>
          </a:p>
        </p:txBody>
      </p:sp>
      <p:sp>
        <p:nvSpPr>
          <p:cNvPr id="35" name="Text 32"/>
          <p:cNvSpPr/>
          <p:nvPr/>
        </p:nvSpPr>
        <p:spPr>
          <a:xfrm>
            <a:off x="6711776" y="2882280"/>
            <a:ext cx="1875979" cy="312762"/>
          </a:xfrm>
          <a:prstGeom prst="rect">
            <a:avLst/>
          </a:prstGeom>
          <a:noFill/>
          <a:ln/>
        </p:spPr>
        <p:txBody>
          <a:bodyPr wrap="square" lIns="0" tIns="0" rIns="0" bIns="0" rtlCol="0" anchor="t">
            <a:normAutofit/>
          </a:bodyPr>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Integrate the camera module, controller, wiring, and power delivery into a stable inspection-ready configuration.</a:t>
            </a:r>
            <a:endParaRPr lang="en-US" sz="650" dirty="0"/>
          </a:p>
        </p:txBody>
      </p:sp>
      <p:sp>
        <p:nvSpPr>
          <p:cNvPr id="36" name="Text 33"/>
          <p:cNvSpPr/>
          <p:nvPr/>
        </p:nvSpPr>
        <p:spPr>
          <a:xfrm>
            <a:off x="556394" y="3272433"/>
            <a:ext cx="2743423"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ML Model Training &amp; Quantization</a:t>
            </a:r>
            <a:endParaRPr lang="en-US" sz="650" dirty="0"/>
          </a:p>
        </p:txBody>
      </p:sp>
      <p:sp>
        <p:nvSpPr>
          <p:cNvPr id="37" name="Text 34"/>
          <p:cNvSpPr/>
          <p:nvPr/>
        </p:nvSpPr>
        <p:spPr>
          <a:xfrm>
            <a:off x="3020020" y="3272433"/>
            <a:ext cx="1510382"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a:t>
            </a:r>
            <a:endParaRPr lang="en-US" sz="650" dirty="0"/>
          </a:p>
        </p:txBody>
      </p:sp>
      <p:sp>
        <p:nvSpPr>
          <p:cNvPr id="38" name="Text 35"/>
          <p:cNvSpPr/>
          <p:nvPr/>
        </p:nvSpPr>
        <p:spPr>
          <a:xfrm>
            <a:off x="4250606" y="3272433"/>
            <a:ext cx="1510382"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a:t>
            </a:r>
            <a:endParaRPr lang="en-US" sz="650" dirty="0"/>
          </a:p>
        </p:txBody>
      </p:sp>
      <p:sp>
        <p:nvSpPr>
          <p:cNvPr id="39" name="Text 36"/>
          <p:cNvSpPr/>
          <p:nvPr/>
        </p:nvSpPr>
        <p:spPr>
          <a:xfrm>
            <a:off x="5481191" y="3272433"/>
            <a:ext cx="1510382"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a:t>
            </a:r>
            <a:endParaRPr lang="en-US" sz="650" dirty="0"/>
          </a:p>
        </p:txBody>
      </p:sp>
      <p:sp>
        <p:nvSpPr>
          <p:cNvPr id="40" name="Text 37"/>
          <p:cNvSpPr/>
          <p:nvPr/>
        </p:nvSpPr>
        <p:spPr>
          <a:xfrm>
            <a:off x="6711776" y="3272433"/>
            <a:ext cx="1875979" cy="312762"/>
          </a:xfrm>
          <a:prstGeom prst="rect">
            <a:avLst/>
          </a:prstGeom>
          <a:noFill/>
          <a:ln/>
        </p:spPr>
        <p:txBody>
          <a:bodyPr wrap="square" lIns="0" tIns="0" rIns="0" bIns="0" rtlCol="0" anchor="t">
            <a:normAutofit/>
          </a:bodyPr>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Train the crack-classification model, optimize accuracy, and quantize it for efficient on-edge deployment on ESP32.</a:t>
            </a:r>
            <a:endParaRPr lang="en-US" sz="650" dirty="0"/>
          </a:p>
        </p:txBody>
      </p:sp>
      <p:sp>
        <p:nvSpPr>
          <p:cNvPr id="41" name="Text 38"/>
          <p:cNvSpPr/>
          <p:nvPr/>
        </p:nvSpPr>
        <p:spPr>
          <a:xfrm>
            <a:off x="556394" y="3662586"/>
            <a:ext cx="2743423"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System Integration &amp; Testing</a:t>
            </a:r>
            <a:endParaRPr lang="en-US" sz="650" dirty="0"/>
          </a:p>
        </p:txBody>
      </p:sp>
      <p:sp>
        <p:nvSpPr>
          <p:cNvPr id="42" name="Text 39"/>
          <p:cNvSpPr/>
          <p:nvPr/>
        </p:nvSpPr>
        <p:spPr>
          <a:xfrm>
            <a:off x="3020020" y="3662586"/>
            <a:ext cx="1510382"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43" name="Text 40"/>
          <p:cNvSpPr/>
          <p:nvPr/>
        </p:nvSpPr>
        <p:spPr>
          <a:xfrm>
            <a:off x="4250606" y="3662586"/>
            <a:ext cx="1510382"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44" name="Text 41"/>
          <p:cNvSpPr/>
          <p:nvPr/>
        </p:nvSpPr>
        <p:spPr>
          <a:xfrm>
            <a:off x="5481191" y="3662586"/>
            <a:ext cx="1510382"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a:t>
            </a:r>
            <a:endParaRPr lang="en-US" sz="650" dirty="0"/>
          </a:p>
        </p:txBody>
      </p:sp>
      <p:sp>
        <p:nvSpPr>
          <p:cNvPr id="45" name="Text 42"/>
          <p:cNvSpPr/>
          <p:nvPr/>
        </p:nvSpPr>
        <p:spPr>
          <a:xfrm>
            <a:off x="6711776" y="3662586"/>
            <a:ext cx="1875979" cy="312762"/>
          </a:xfrm>
          <a:prstGeom prst="rect">
            <a:avLst/>
          </a:prstGeom>
          <a:noFill/>
          <a:ln/>
        </p:spPr>
        <p:txBody>
          <a:bodyPr wrap="square" lIns="0" tIns="0" rIns="0" bIns="0" rtlCol="0" anchor="t">
            <a:normAutofit/>
          </a:bodyPr>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Perform end-to-end verification of camera capture, inference output, drone readiness, and crack detection performance.</a:t>
            </a:r>
            <a:endParaRPr lang="en-US" sz="650" dirty="0"/>
          </a:p>
        </p:txBody>
      </p:sp>
      <p:sp>
        <p:nvSpPr>
          <p:cNvPr id="46" name="Text 43"/>
          <p:cNvSpPr/>
          <p:nvPr/>
        </p:nvSpPr>
        <p:spPr>
          <a:xfrm>
            <a:off x="556394" y="4052739"/>
            <a:ext cx="2743423"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Results Documentation &amp; Report Writing</a:t>
            </a:r>
            <a:endParaRPr lang="en-US" sz="650" dirty="0"/>
          </a:p>
        </p:txBody>
      </p:sp>
      <p:sp>
        <p:nvSpPr>
          <p:cNvPr id="47" name="Text 44"/>
          <p:cNvSpPr/>
          <p:nvPr/>
        </p:nvSpPr>
        <p:spPr>
          <a:xfrm>
            <a:off x="3020020" y="4052739"/>
            <a:ext cx="1510382"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48" name="Text 45"/>
          <p:cNvSpPr/>
          <p:nvPr/>
        </p:nvSpPr>
        <p:spPr>
          <a:xfrm>
            <a:off x="4250606" y="4052739"/>
            <a:ext cx="1510382"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49" name="Text 46"/>
          <p:cNvSpPr/>
          <p:nvPr/>
        </p:nvSpPr>
        <p:spPr>
          <a:xfrm>
            <a:off x="5481191" y="4052739"/>
            <a:ext cx="1510382" cy="104254"/>
          </a:xfrm>
          <a:prstGeom prst="rect">
            <a:avLst/>
          </a:prstGeom>
          <a:noFill/>
          <a:ln/>
        </p:spPr>
        <p:txBody>
          <a:bodyPr wrap="none" lIns="0" tIns="0" rIns="0" bIns="0" rtlCol="0" anchor="t"/>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a:t>
            </a:r>
            <a:endParaRPr lang="en-US" sz="650" dirty="0"/>
          </a:p>
        </p:txBody>
      </p:sp>
      <p:sp>
        <p:nvSpPr>
          <p:cNvPr id="50" name="Text 47"/>
          <p:cNvSpPr/>
          <p:nvPr/>
        </p:nvSpPr>
        <p:spPr>
          <a:xfrm>
            <a:off x="6711776" y="4052739"/>
            <a:ext cx="1875979" cy="312762"/>
          </a:xfrm>
          <a:prstGeom prst="rect">
            <a:avLst/>
          </a:prstGeom>
          <a:noFill/>
          <a:ln/>
        </p:spPr>
        <p:txBody>
          <a:bodyPr wrap="square" lIns="0" tIns="0" rIns="0" bIns="0" rtlCol="0" anchor="t">
            <a:normAutofit/>
          </a:bodyPr>
          <a:lstStyle/>
          <a:p>
            <a:pPr marL="0" indent="0" algn="l">
              <a:lnSpc>
                <a:spcPct val="101000"/>
              </a:lnSpc>
              <a:buNone/>
            </a:pPr>
            <a:r>
              <a:rPr lang="en-US" sz="650" dirty="0">
                <a:solidFill>
                  <a:srgbClr val="384653"/>
                </a:solidFill>
                <a:latin typeface="Roboto" pitchFamily="34" charset="0"/>
                <a:ea typeface="Roboto" pitchFamily="34" charset="-122"/>
                <a:cs typeface="Roboto" pitchFamily="34" charset="-120"/>
              </a:rPr>
              <a:t>Document test results, system behavior, design outcomes, and final observations for submission and presentation.</a:t>
            </a:r>
            <a:endParaRPr lang="en-US" sz="650" dirty="0"/>
          </a:p>
        </p:txBody>
      </p:sp>
      <p:sp>
        <p:nvSpPr>
          <p:cNvPr id="51" name="Shape 48"/>
          <p:cNvSpPr/>
          <p:nvPr/>
        </p:nvSpPr>
        <p:spPr>
          <a:xfrm>
            <a:off x="465162" y="4465737"/>
            <a:ext cx="8213675" cy="268932"/>
          </a:xfrm>
          <a:prstGeom prst="roundRect">
            <a:avLst>
              <a:gd name="adj" fmla="val 13492"/>
            </a:avLst>
          </a:prstGeom>
          <a:solidFill>
            <a:srgbClr val="C6E4EB"/>
          </a:solidFill>
          <a:ln/>
        </p:spPr>
      </p:sp>
      <p:pic>
        <p:nvPicPr>
          <p:cNvPr id="52" name="Image 1" descr="preencoded.png"/>
          <p:cNvPicPr>
            <a:picLocks noChangeAspect="1"/>
          </p:cNvPicPr>
          <p:nvPr/>
        </p:nvPicPr>
        <p:blipFill>
          <a:blip r:embed="rId4"/>
          <a:stretch>
            <a:fillRect/>
          </a:stretch>
        </p:blipFill>
        <p:spPr>
          <a:xfrm>
            <a:off x="551483" y="4579069"/>
            <a:ext cx="107975" cy="86320"/>
          </a:xfrm>
          <a:prstGeom prst="rect">
            <a:avLst/>
          </a:prstGeom>
        </p:spPr>
      </p:pic>
      <p:sp>
        <p:nvSpPr>
          <p:cNvPr id="53" name="Text 49"/>
          <p:cNvSpPr/>
          <p:nvPr/>
        </p:nvSpPr>
        <p:spPr>
          <a:xfrm>
            <a:off x="745778" y="4539928"/>
            <a:ext cx="8303940" cy="104254"/>
          </a:xfrm>
          <a:prstGeom prst="rect">
            <a:avLst/>
          </a:prstGeom>
          <a:noFill/>
          <a:ln/>
        </p:spPr>
        <p:txBody>
          <a:bodyPr wrap="none" lIns="0" tIns="0" rIns="0" bIns="0" rtlCol="0" anchor="t"/>
          <a:lstStyle/>
          <a:p>
            <a:pPr marL="0" indent="0" algn="l">
              <a:lnSpc>
                <a:spcPct val="101000"/>
              </a:lnSpc>
              <a:buNone/>
            </a:pPr>
            <a:r>
              <a:rPr lang="en-US" sz="650" dirty="0">
                <a:solidFill>
                  <a:srgbClr val="000000"/>
                </a:solidFill>
                <a:latin typeface="Roboto" pitchFamily="34" charset="0"/>
                <a:ea typeface="Roboto" pitchFamily="34" charset="-122"/>
                <a:cs typeface="Roboto" pitchFamily="34" charset="-120"/>
              </a:rPr>
              <a:t>All milestones are targeted for completion by the end of Week 12. CFD validation precedes fabrication to minimize design revisions, and the final month is reserved for integration, testing, and reporting.</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349D2-A190-4F2F-4CE7-B452BEF787CA}"/>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ABC9040-EC2C-E541-E013-BD62361089F0}"/>
              </a:ext>
            </a:extLst>
          </p:cNvPr>
          <p:cNvPicPr>
            <a:picLocks noChangeAspect="1"/>
          </p:cNvPicPr>
          <p:nvPr/>
        </p:nvPicPr>
        <p:blipFill>
          <a:blip r:embed="rId3"/>
          <a:stretch>
            <a:fillRect/>
          </a:stretch>
        </p:blipFill>
        <p:spPr>
          <a:xfrm>
            <a:off x="176774" y="175301"/>
            <a:ext cx="1439763" cy="416421"/>
          </a:xfrm>
          <a:prstGeom prst="rect">
            <a:avLst/>
          </a:prstGeom>
        </p:spPr>
      </p:pic>
      <p:sp>
        <p:nvSpPr>
          <p:cNvPr id="3" name="Text 0">
            <a:extLst>
              <a:ext uri="{FF2B5EF4-FFF2-40B4-BE49-F238E27FC236}">
                <a16:creationId xmlns:a16="http://schemas.microsoft.com/office/drawing/2014/main" id="{399CCE33-67FD-5AD3-3252-1BD1E7E979CA}"/>
              </a:ext>
            </a:extLst>
          </p:cNvPr>
          <p:cNvSpPr/>
          <p:nvPr/>
        </p:nvSpPr>
        <p:spPr>
          <a:xfrm>
            <a:off x="1010281" y="2595376"/>
            <a:ext cx="7123435" cy="269900"/>
          </a:xfrm>
          <a:prstGeom prst="rect">
            <a:avLst/>
          </a:prstGeom>
          <a:noFill/>
          <a:ln/>
        </p:spPr>
        <p:txBody>
          <a:bodyPr wrap="none" lIns="0" tIns="0" rIns="0" bIns="0" rtlCol="0" anchor="t"/>
          <a:lstStyle/>
          <a:p>
            <a:pPr marL="0" indent="0" algn="ctr">
              <a:lnSpc>
                <a:spcPct val="104000"/>
              </a:lnSpc>
              <a:buNone/>
            </a:pPr>
            <a:endParaRPr lang="en-US" sz="7200" dirty="0"/>
          </a:p>
        </p:txBody>
      </p:sp>
      <p:sp>
        <p:nvSpPr>
          <p:cNvPr id="4" name="Text 1">
            <a:extLst>
              <a:ext uri="{FF2B5EF4-FFF2-40B4-BE49-F238E27FC236}">
                <a16:creationId xmlns:a16="http://schemas.microsoft.com/office/drawing/2014/main" id="{C9CC4E82-97B4-3046-3643-7AED2FB26391}"/>
              </a:ext>
            </a:extLst>
          </p:cNvPr>
          <p:cNvSpPr/>
          <p:nvPr/>
        </p:nvSpPr>
        <p:spPr>
          <a:xfrm>
            <a:off x="465162" y="1259607"/>
            <a:ext cx="8213675" cy="1411560"/>
          </a:xfrm>
          <a:prstGeom prst="rect">
            <a:avLst/>
          </a:prstGeom>
          <a:noFill/>
          <a:ln/>
        </p:spPr>
        <p:txBody>
          <a:bodyPr wrap="square" lIns="0" tIns="0" rIns="0" bIns="0" rtlCol="0" anchor="t"/>
          <a:lstStyle/>
          <a:p>
            <a:pPr marL="0" indent="0" algn="ctr">
              <a:lnSpc>
                <a:spcPct val="101000"/>
              </a:lnSpc>
              <a:spcAft>
                <a:spcPts val="450"/>
              </a:spcAft>
              <a:buNone/>
            </a:pPr>
            <a:endParaRPr lang="en-US" sz="650" dirty="0"/>
          </a:p>
        </p:txBody>
      </p:sp>
      <p:sp>
        <p:nvSpPr>
          <p:cNvPr id="5" name="Shape 2">
            <a:extLst>
              <a:ext uri="{FF2B5EF4-FFF2-40B4-BE49-F238E27FC236}">
                <a16:creationId xmlns:a16="http://schemas.microsoft.com/office/drawing/2014/main" id="{8A856223-D58E-2966-A993-0679E1D69AFE}"/>
              </a:ext>
            </a:extLst>
          </p:cNvPr>
          <p:cNvSpPr/>
          <p:nvPr/>
        </p:nvSpPr>
        <p:spPr>
          <a:xfrm>
            <a:off x="465162" y="2730326"/>
            <a:ext cx="8213675" cy="912986"/>
          </a:xfrm>
          <a:prstGeom prst="roundRect">
            <a:avLst>
              <a:gd name="adj" fmla="val 3974"/>
            </a:avLst>
          </a:prstGeom>
          <a:noFill/>
          <a:ln w="4763">
            <a:solidFill>
              <a:srgbClr val="000000">
                <a:alpha val="8000"/>
              </a:srgbClr>
            </a:solidFill>
            <a:prstDash val="solid"/>
          </a:ln>
        </p:spPr>
      </p:sp>
      <p:sp>
        <p:nvSpPr>
          <p:cNvPr id="11" name="Text 8">
            <a:extLst>
              <a:ext uri="{FF2B5EF4-FFF2-40B4-BE49-F238E27FC236}">
                <a16:creationId xmlns:a16="http://schemas.microsoft.com/office/drawing/2014/main" id="{C3712D4A-1DB9-2416-E060-560AC93C9199}"/>
              </a:ext>
            </a:extLst>
          </p:cNvPr>
          <p:cNvSpPr/>
          <p:nvPr/>
        </p:nvSpPr>
        <p:spPr>
          <a:xfrm>
            <a:off x="4660702" y="2953048"/>
            <a:ext cx="4384253"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14" name="Text 11">
            <a:extLst>
              <a:ext uri="{FF2B5EF4-FFF2-40B4-BE49-F238E27FC236}">
                <a16:creationId xmlns:a16="http://schemas.microsoft.com/office/drawing/2014/main" id="{AC9A23D0-349A-BF9F-5AF9-1D5A92B74996}"/>
              </a:ext>
            </a:extLst>
          </p:cNvPr>
          <p:cNvSpPr/>
          <p:nvPr/>
        </p:nvSpPr>
        <p:spPr>
          <a:xfrm>
            <a:off x="4660702" y="3134692"/>
            <a:ext cx="4384253"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17" name="Text 14">
            <a:extLst>
              <a:ext uri="{FF2B5EF4-FFF2-40B4-BE49-F238E27FC236}">
                <a16:creationId xmlns:a16="http://schemas.microsoft.com/office/drawing/2014/main" id="{B8F80DE0-3583-1777-6D64-03E60E763DD1}"/>
              </a:ext>
            </a:extLst>
          </p:cNvPr>
          <p:cNvSpPr/>
          <p:nvPr/>
        </p:nvSpPr>
        <p:spPr>
          <a:xfrm>
            <a:off x="4660702" y="3316337"/>
            <a:ext cx="4384253"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21" name="Text 18">
            <a:extLst>
              <a:ext uri="{FF2B5EF4-FFF2-40B4-BE49-F238E27FC236}">
                <a16:creationId xmlns:a16="http://schemas.microsoft.com/office/drawing/2014/main" id="{AE92D171-D917-AD4B-E48A-81308FCDF58E}"/>
              </a:ext>
            </a:extLst>
          </p:cNvPr>
          <p:cNvSpPr/>
          <p:nvPr/>
        </p:nvSpPr>
        <p:spPr>
          <a:xfrm>
            <a:off x="465162" y="3702472"/>
            <a:ext cx="8213675" cy="1025575"/>
          </a:xfrm>
          <a:prstGeom prst="rect">
            <a:avLst/>
          </a:prstGeom>
          <a:noFill/>
          <a:ln/>
        </p:spPr>
        <p:txBody>
          <a:bodyPr wrap="square" lIns="0" tIns="0" rIns="0" bIns="0" rtlCol="0" anchor="t">
            <a:normAutofit/>
          </a:bodyPr>
          <a:lstStyle/>
          <a:p>
            <a:pPr marL="0" indent="0" algn="ctr">
              <a:lnSpc>
                <a:spcPct val="101000"/>
              </a:lnSpc>
              <a:buNone/>
            </a:pPr>
            <a:endParaRPr lang="en-US" sz="650" dirty="0"/>
          </a:p>
        </p:txBody>
      </p:sp>
      <p:sp>
        <p:nvSpPr>
          <p:cNvPr id="6" name="Shape 1">
            <a:extLst>
              <a:ext uri="{FF2B5EF4-FFF2-40B4-BE49-F238E27FC236}">
                <a16:creationId xmlns:a16="http://schemas.microsoft.com/office/drawing/2014/main" id="{F97B1766-E719-9B24-6E1B-7F585F26CAF8}"/>
              </a:ext>
            </a:extLst>
          </p:cNvPr>
          <p:cNvSpPr/>
          <p:nvPr/>
        </p:nvSpPr>
        <p:spPr>
          <a:xfrm>
            <a:off x="268370" y="851238"/>
            <a:ext cx="8584105" cy="4028075"/>
          </a:xfrm>
          <a:prstGeom prst="roundRect">
            <a:avLst>
              <a:gd name="adj" fmla="val 811"/>
            </a:avLst>
          </a:prstGeom>
          <a:solidFill>
            <a:srgbClr val="F9F6F0"/>
          </a:solidFill>
          <a:ln w="30480">
            <a:solidFill>
              <a:srgbClr val="D4CEC3"/>
            </a:solidFill>
            <a:prstDash val="solid"/>
          </a:ln>
        </p:spPr>
        <p:txBody>
          <a:bodyPr/>
          <a:lstStyle/>
          <a:p>
            <a:endParaRPr lang="en-IN" dirty="0"/>
          </a:p>
        </p:txBody>
      </p:sp>
      <p:sp>
        <p:nvSpPr>
          <p:cNvPr id="13" name="Text 0">
            <a:extLst>
              <a:ext uri="{FF2B5EF4-FFF2-40B4-BE49-F238E27FC236}">
                <a16:creationId xmlns:a16="http://schemas.microsoft.com/office/drawing/2014/main" id="{698DC525-2BE7-F949-5CC3-614DC976FC1F}"/>
              </a:ext>
            </a:extLst>
          </p:cNvPr>
          <p:cNvSpPr/>
          <p:nvPr/>
        </p:nvSpPr>
        <p:spPr>
          <a:xfrm>
            <a:off x="1986260" y="461442"/>
            <a:ext cx="4454575" cy="269900"/>
          </a:xfrm>
          <a:prstGeom prst="rect">
            <a:avLst/>
          </a:prstGeom>
          <a:noFill/>
          <a:ln/>
        </p:spPr>
        <p:txBody>
          <a:bodyPr wrap="none" lIns="0" tIns="0" rIns="0" bIns="0" rtlCol="0" anchor="t"/>
          <a:lstStyle/>
          <a:p>
            <a:pPr marL="0" indent="0" algn="ctr">
              <a:lnSpc>
                <a:spcPct val="104000"/>
              </a:lnSpc>
              <a:buNone/>
            </a:pPr>
            <a:r>
              <a:rPr lang="en-US" sz="2000" dirty="0">
                <a:solidFill>
                  <a:srgbClr val="2E3C4E"/>
                </a:solidFill>
                <a:latin typeface="Host Grotesk Medium" pitchFamily="34" charset="0"/>
                <a:ea typeface="Host Grotesk Medium" pitchFamily="34" charset="-122"/>
                <a:cs typeface="Host Grotesk Medium" pitchFamily="34" charset="-120"/>
              </a:rPr>
              <a:t> REFERENCES</a:t>
            </a:r>
            <a:endParaRPr lang="en-US" sz="2000" dirty="0"/>
          </a:p>
        </p:txBody>
      </p:sp>
      <p:sp>
        <p:nvSpPr>
          <p:cNvPr id="16" name="TextBox 15">
            <a:extLst>
              <a:ext uri="{FF2B5EF4-FFF2-40B4-BE49-F238E27FC236}">
                <a16:creationId xmlns:a16="http://schemas.microsoft.com/office/drawing/2014/main" id="{03553EC1-FB5D-BC04-BB72-3B610DFC3D39}"/>
              </a:ext>
            </a:extLst>
          </p:cNvPr>
          <p:cNvSpPr txBox="1"/>
          <p:nvPr/>
        </p:nvSpPr>
        <p:spPr>
          <a:xfrm>
            <a:off x="378800" y="933643"/>
            <a:ext cx="3736781" cy="3785652"/>
          </a:xfrm>
          <a:prstGeom prst="rect">
            <a:avLst/>
          </a:prstGeom>
          <a:noFill/>
        </p:spPr>
        <p:txBody>
          <a:bodyPr wrap="square" rtlCol="0">
            <a:spAutoFit/>
          </a:bodyPr>
          <a:lstStyle/>
          <a:p>
            <a:r>
              <a:rPr lang="en-IN" sz="1200" b="1" dirty="0"/>
              <a:t>1.Kim, Y. et al.</a:t>
            </a:r>
            <a:r>
              <a:rPr lang="en-IN" sz="1200" dirty="0"/>
              <a:t>, "UAV-Driven Structural Crack Detection and Location Determination", </a:t>
            </a:r>
            <a:r>
              <a:rPr lang="en-IN" sz="1200" i="1" dirty="0"/>
              <a:t>2021</a:t>
            </a:r>
            <a:r>
              <a:rPr lang="en-IN" sz="1200" dirty="0"/>
              <a:t>, pp. 112-125, DOI: 10.3390/s21051564</a:t>
            </a:r>
          </a:p>
          <a:p>
            <a:endParaRPr lang="en-IN" sz="1200" dirty="0"/>
          </a:p>
          <a:p>
            <a:r>
              <a:rPr lang="en-IN" sz="1200" b="1" dirty="0"/>
              <a:t>2.Zhang, X. et al.</a:t>
            </a:r>
            <a:r>
              <a:rPr lang="en-IN" sz="1200" dirty="0"/>
              <a:t>, "A Building Crack Detection UAV System Based on Deep Learning", </a:t>
            </a:r>
            <a:r>
              <a:rPr lang="en-IN" sz="1200" i="1" dirty="0"/>
              <a:t>2025</a:t>
            </a:r>
            <a:r>
              <a:rPr lang="en-IN" sz="1200" dirty="0"/>
              <a:t>, pp. 2975-2989, DOI: 10.3390/app15052975</a:t>
            </a:r>
          </a:p>
          <a:p>
            <a:endParaRPr lang="en-IN" sz="1200" dirty="0"/>
          </a:p>
          <a:p>
            <a:r>
              <a:rPr lang="en-IN" sz="1200" b="1" dirty="0"/>
              <a:t>3.Li, C. et al.</a:t>
            </a:r>
            <a:r>
              <a:rPr lang="en-IN" sz="1200" dirty="0"/>
              <a:t>, "Automated Road Data Collection Systems Using UAVs for Pavement Inspection", </a:t>
            </a:r>
            <a:r>
              <a:rPr lang="en-IN" sz="1200" i="1" dirty="0"/>
              <a:t>2025</a:t>
            </a:r>
            <a:r>
              <a:rPr lang="en-IN" sz="1200" dirty="0"/>
              <a:t>, pp. 4165-4180, DOI: 10.3390/su14214165</a:t>
            </a:r>
          </a:p>
          <a:p>
            <a:endParaRPr lang="en-IN" sz="1200" dirty="0"/>
          </a:p>
          <a:p>
            <a:r>
              <a:rPr lang="en-IN" sz="1200" b="1" dirty="0"/>
              <a:t>4.Vinayagam, B. M. K. et al.</a:t>
            </a:r>
            <a:r>
              <a:rPr lang="en-IN" sz="1200" dirty="0"/>
              <a:t>, "Crack Detection System Using Drone-Captured Images", </a:t>
            </a:r>
            <a:r>
              <a:rPr lang="en-IN" sz="1200" i="1" dirty="0"/>
              <a:t>2026</a:t>
            </a:r>
            <a:r>
              <a:rPr lang="en-IN" sz="1200" dirty="0"/>
              <a:t>, pp. 1-15, DOI: 10.1016/irjaem.1335</a:t>
            </a:r>
          </a:p>
          <a:p>
            <a:endParaRPr lang="en-IN" sz="1200" dirty="0"/>
          </a:p>
          <a:p>
            <a:r>
              <a:rPr lang="en-IN" sz="1200" b="1" dirty="0"/>
              <a:t>5.Ahmed, T. et al.</a:t>
            </a:r>
            <a:r>
              <a:rPr lang="en-IN" sz="1200" dirty="0"/>
              <a:t>, "Image-based methods for structural surface crack detection using drones", </a:t>
            </a:r>
            <a:r>
              <a:rPr lang="en-IN" sz="1200" i="1" dirty="0"/>
              <a:t>2018</a:t>
            </a:r>
            <a:r>
              <a:rPr lang="en-IN" sz="1200" dirty="0"/>
              <a:t>, pp. 113-128, DOI: 10.1016/j.ndteint.2018.04.004</a:t>
            </a:r>
          </a:p>
          <a:p>
            <a:endParaRPr lang="en-IN" sz="1200" dirty="0"/>
          </a:p>
        </p:txBody>
      </p:sp>
      <p:sp>
        <p:nvSpPr>
          <p:cNvPr id="18" name="TextBox 17">
            <a:extLst>
              <a:ext uri="{FF2B5EF4-FFF2-40B4-BE49-F238E27FC236}">
                <a16:creationId xmlns:a16="http://schemas.microsoft.com/office/drawing/2014/main" id="{AFC9F550-8DCD-8542-334D-78AFBF95BFEA}"/>
              </a:ext>
            </a:extLst>
          </p:cNvPr>
          <p:cNvSpPr txBox="1"/>
          <p:nvPr/>
        </p:nvSpPr>
        <p:spPr>
          <a:xfrm>
            <a:off x="4669495" y="990858"/>
            <a:ext cx="3736781" cy="3600986"/>
          </a:xfrm>
          <a:prstGeom prst="rect">
            <a:avLst/>
          </a:prstGeom>
          <a:noFill/>
        </p:spPr>
        <p:txBody>
          <a:bodyPr wrap="square" rtlCol="0">
            <a:spAutoFit/>
          </a:bodyPr>
          <a:lstStyle/>
          <a:p>
            <a:r>
              <a:rPr lang="en-IN" sz="1200" dirty="0"/>
              <a:t>6. </a:t>
            </a:r>
            <a:r>
              <a:rPr lang="en-IN" sz="1200" b="1" dirty="0"/>
              <a:t>Wang, L. et al.</a:t>
            </a:r>
            <a:r>
              <a:rPr lang="en-IN" sz="1200" dirty="0"/>
              <a:t>, "A Novel Approach for UAV Image Crack Detection using Deep CNN", </a:t>
            </a:r>
            <a:r>
              <a:rPr lang="en-IN" sz="1200" i="1" dirty="0"/>
              <a:t>2022</a:t>
            </a:r>
            <a:r>
              <a:rPr lang="en-IN" sz="1200" dirty="0"/>
              <a:t>, pp. 234-245, DOI: 10.1016/j.autcon.2022.104230 </a:t>
            </a:r>
          </a:p>
          <a:p>
            <a:endParaRPr lang="en-IN" sz="1200" dirty="0"/>
          </a:p>
          <a:p>
            <a:r>
              <a:rPr lang="en-IN" sz="1200" dirty="0"/>
              <a:t>7. </a:t>
            </a:r>
            <a:r>
              <a:rPr lang="en-IN" sz="1200" b="1" dirty="0"/>
              <a:t>Zhao, N. et al.</a:t>
            </a:r>
            <a:r>
              <a:rPr lang="en-IN" sz="1200" dirty="0"/>
              <a:t>, "</a:t>
            </a:r>
            <a:r>
              <a:rPr lang="en-IN" sz="1200" dirty="0" err="1"/>
              <a:t>DenxiDeepCrack</a:t>
            </a:r>
            <a:r>
              <a:rPr lang="en-IN" sz="1200" dirty="0"/>
              <a:t>: A trainable deep CNN for automatic road cracks detection", </a:t>
            </a:r>
            <a:r>
              <a:rPr lang="en-IN" sz="1200" i="1" dirty="0"/>
              <a:t>2021</a:t>
            </a:r>
            <a:r>
              <a:rPr lang="en-IN" sz="1200" dirty="0"/>
              <a:t>, pp. 55-67, DOI: 10.1109/TITS.2021.309411</a:t>
            </a:r>
          </a:p>
          <a:p>
            <a:r>
              <a:rPr lang="en-IN" sz="1200" dirty="0"/>
              <a:t> </a:t>
            </a:r>
          </a:p>
          <a:p>
            <a:r>
              <a:rPr lang="en-IN" sz="1200" dirty="0"/>
              <a:t>8. </a:t>
            </a:r>
            <a:r>
              <a:rPr lang="en-IN" sz="1200" b="1" dirty="0"/>
              <a:t>Chen, H. et al.</a:t>
            </a:r>
            <a:r>
              <a:rPr lang="en-IN" sz="1200" dirty="0"/>
              <a:t>, "YOLOv8-CBAM model for building crack detection via UAV imagery", </a:t>
            </a:r>
            <a:r>
              <a:rPr lang="en-IN" sz="1200" i="1" dirty="0"/>
              <a:t>2024</a:t>
            </a:r>
            <a:r>
              <a:rPr lang="en-IN" sz="1200" dirty="0"/>
              <a:t>, pp. 1-12, DOI: 10.1109/ACCESS.2024.312984 </a:t>
            </a:r>
          </a:p>
          <a:p>
            <a:endParaRPr lang="en-IN" sz="1200" dirty="0"/>
          </a:p>
          <a:p>
            <a:r>
              <a:rPr lang="en-IN" sz="1200" dirty="0"/>
              <a:t>9. </a:t>
            </a:r>
            <a:r>
              <a:rPr lang="en-IN" sz="1200" b="1" dirty="0"/>
              <a:t>Wei, Z. et al.</a:t>
            </a:r>
            <a:r>
              <a:rPr lang="en-IN" sz="1200" dirty="0"/>
              <a:t>, "Concrete pavement crack detection using VGG16 and UAV imagery", </a:t>
            </a:r>
            <a:r>
              <a:rPr lang="en-IN" sz="1200" i="1" dirty="0"/>
              <a:t>2019</a:t>
            </a:r>
            <a:r>
              <a:rPr lang="en-IN" sz="1200" dirty="0"/>
              <a:t>, pp. 90-101, DOI: 10.3390/rs11151790 </a:t>
            </a:r>
          </a:p>
          <a:p>
            <a:endParaRPr lang="en-IN" sz="1200" dirty="0"/>
          </a:p>
          <a:p>
            <a:r>
              <a:rPr lang="en-IN" sz="1200" dirty="0"/>
              <a:t>10. </a:t>
            </a:r>
            <a:r>
              <a:rPr lang="en-IN" sz="1200" b="1" dirty="0"/>
              <a:t>Qu, Q. et al.</a:t>
            </a:r>
            <a:r>
              <a:rPr lang="en-IN" sz="1200" dirty="0"/>
              <a:t>, "Transfer learning method based on deep CNN for infrastructure cracks", </a:t>
            </a:r>
            <a:r>
              <a:rPr lang="en-IN" sz="1200" i="1" dirty="0"/>
              <a:t>2020</a:t>
            </a:r>
            <a:r>
              <a:rPr lang="en-IN" sz="1200" dirty="0"/>
              <a:t>, pp. 44-59, DOI: 10.1016/j.engappai.2020.1041</a:t>
            </a:r>
          </a:p>
        </p:txBody>
      </p:sp>
    </p:spTree>
    <p:extLst>
      <p:ext uri="{BB962C8B-B14F-4D97-AF65-F5344CB8AC3E}">
        <p14:creationId xmlns:p14="http://schemas.microsoft.com/office/powerpoint/2010/main" val="4016321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2635E-4D0B-ABAE-4D67-DF3CE0C8CFDA}"/>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50BD3F4-E6E9-CA1A-5602-2ED85DC47174}"/>
              </a:ext>
            </a:extLst>
          </p:cNvPr>
          <p:cNvPicPr>
            <a:picLocks noChangeAspect="1"/>
          </p:cNvPicPr>
          <p:nvPr/>
        </p:nvPicPr>
        <p:blipFill>
          <a:blip r:embed="rId3"/>
          <a:stretch>
            <a:fillRect/>
          </a:stretch>
        </p:blipFill>
        <p:spPr>
          <a:xfrm>
            <a:off x="176774" y="175301"/>
            <a:ext cx="1439763" cy="416421"/>
          </a:xfrm>
          <a:prstGeom prst="rect">
            <a:avLst/>
          </a:prstGeom>
        </p:spPr>
      </p:pic>
      <p:sp>
        <p:nvSpPr>
          <p:cNvPr id="3" name="Text 0">
            <a:extLst>
              <a:ext uri="{FF2B5EF4-FFF2-40B4-BE49-F238E27FC236}">
                <a16:creationId xmlns:a16="http://schemas.microsoft.com/office/drawing/2014/main" id="{B138F9A0-12D8-1BBA-78A7-13BD17F1587E}"/>
              </a:ext>
            </a:extLst>
          </p:cNvPr>
          <p:cNvSpPr/>
          <p:nvPr/>
        </p:nvSpPr>
        <p:spPr>
          <a:xfrm>
            <a:off x="1010281" y="2595376"/>
            <a:ext cx="7123435" cy="269900"/>
          </a:xfrm>
          <a:prstGeom prst="rect">
            <a:avLst/>
          </a:prstGeom>
          <a:noFill/>
          <a:ln/>
        </p:spPr>
        <p:txBody>
          <a:bodyPr wrap="none" lIns="0" tIns="0" rIns="0" bIns="0" rtlCol="0" anchor="t"/>
          <a:lstStyle/>
          <a:p>
            <a:pPr marL="0" indent="0" algn="ctr">
              <a:lnSpc>
                <a:spcPct val="104000"/>
              </a:lnSpc>
              <a:buNone/>
            </a:pPr>
            <a:endParaRPr lang="en-US" sz="7200" dirty="0"/>
          </a:p>
        </p:txBody>
      </p:sp>
      <p:sp>
        <p:nvSpPr>
          <p:cNvPr id="4" name="Text 1">
            <a:extLst>
              <a:ext uri="{FF2B5EF4-FFF2-40B4-BE49-F238E27FC236}">
                <a16:creationId xmlns:a16="http://schemas.microsoft.com/office/drawing/2014/main" id="{24618A2F-D5F6-52FC-B49D-8AE63FEAA659}"/>
              </a:ext>
            </a:extLst>
          </p:cNvPr>
          <p:cNvSpPr/>
          <p:nvPr/>
        </p:nvSpPr>
        <p:spPr>
          <a:xfrm>
            <a:off x="465162" y="1259607"/>
            <a:ext cx="8213675" cy="1411560"/>
          </a:xfrm>
          <a:prstGeom prst="rect">
            <a:avLst/>
          </a:prstGeom>
          <a:noFill/>
          <a:ln/>
        </p:spPr>
        <p:txBody>
          <a:bodyPr wrap="square" lIns="0" tIns="0" rIns="0" bIns="0" rtlCol="0" anchor="t"/>
          <a:lstStyle/>
          <a:p>
            <a:pPr marL="0" indent="0" algn="ctr">
              <a:lnSpc>
                <a:spcPct val="101000"/>
              </a:lnSpc>
              <a:spcAft>
                <a:spcPts val="450"/>
              </a:spcAft>
              <a:buNone/>
            </a:pPr>
            <a:endParaRPr lang="en-US" sz="650" dirty="0"/>
          </a:p>
        </p:txBody>
      </p:sp>
      <p:sp>
        <p:nvSpPr>
          <p:cNvPr id="5" name="Shape 2">
            <a:extLst>
              <a:ext uri="{FF2B5EF4-FFF2-40B4-BE49-F238E27FC236}">
                <a16:creationId xmlns:a16="http://schemas.microsoft.com/office/drawing/2014/main" id="{2A6384C9-0775-3658-D6C0-022AA5385D3C}"/>
              </a:ext>
            </a:extLst>
          </p:cNvPr>
          <p:cNvSpPr/>
          <p:nvPr/>
        </p:nvSpPr>
        <p:spPr>
          <a:xfrm>
            <a:off x="465162" y="2730326"/>
            <a:ext cx="8213675" cy="912986"/>
          </a:xfrm>
          <a:prstGeom prst="roundRect">
            <a:avLst>
              <a:gd name="adj" fmla="val 3974"/>
            </a:avLst>
          </a:prstGeom>
          <a:noFill/>
          <a:ln w="4763">
            <a:solidFill>
              <a:srgbClr val="000000">
                <a:alpha val="8000"/>
              </a:srgbClr>
            </a:solidFill>
            <a:prstDash val="solid"/>
          </a:ln>
        </p:spPr>
      </p:sp>
      <p:sp>
        <p:nvSpPr>
          <p:cNvPr id="11" name="Text 8">
            <a:extLst>
              <a:ext uri="{FF2B5EF4-FFF2-40B4-BE49-F238E27FC236}">
                <a16:creationId xmlns:a16="http://schemas.microsoft.com/office/drawing/2014/main" id="{41462FAD-4660-DD61-ED9B-363D5ADC44A9}"/>
              </a:ext>
            </a:extLst>
          </p:cNvPr>
          <p:cNvSpPr/>
          <p:nvPr/>
        </p:nvSpPr>
        <p:spPr>
          <a:xfrm>
            <a:off x="4660702" y="2953048"/>
            <a:ext cx="4384253"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14" name="Text 11">
            <a:extLst>
              <a:ext uri="{FF2B5EF4-FFF2-40B4-BE49-F238E27FC236}">
                <a16:creationId xmlns:a16="http://schemas.microsoft.com/office/drawing/2014/main" id="{7A82E9CF-47E9-C186-6421-525895A3D7BC}"/>
              </a:ext>
            </a:extLst>
          </p:cNvPr>
          <p:cNvSpPr/>
          <p:nvPr/>
        </p:nvSpPr>
        <p:spPr>
          <a:xfrm>
            <a:off x="4660702" y="3134692"/>
            <a:ext cx="4384253"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17" name="Text 14">
            <a:extLst>
              <a:ext uri="{FF2B5EF4-FFF2-40B4-BE49-F238E27FC236}">
                <a16:creationId xmlns:a16="http://schemas.microsoft.com/office/drawing/2014/main" id="{703A8B81-71CE-F6F1-6D22-A24F48182BAB}"/>
              </a:ext>
            </a:extLst>
          </p:cNvPr>
          <p:cNvSpPr/>
          <p:nvPr/>
        </p:nvSpPr>
        <p:spPr>
          <a:xfrm>
            <a:off x="4660702" y="3316337"/>
            <a:ext cx="4384253"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21" name="Text 18">
            <a:extLst>
              <a:ext uri="{FF2B5EF4-FFF2-40B4-BE49-F238E27FC236}">
                <a16:creationId xmlns:a16="http://schemas.microsoft.com/office/drawing/2014/main" id="{AC01250E-591F-032C-E2B0-9CBBD913ED48}"/>
              </a:ext>
            </a:extLst>
          </p:cNvPr>
          <p:cNvSpPr/>
          <p:nvPr/>
        </p:nvSpPr>
        <p:spPr>
          <a:xfrm>
            <a:off x="465162" y="3702472"/>
            <a:ext cx="8213675" cy="1025575"/>
          </a:xfrm>
          <a:prstGeom prst="rect">
            <a:avLst/>
          </a:prstGeom>
          <a:noFill/>
          <a:ln/>
        </p:spPr>
        <p:txBody>
          <a:bodyPr wrap="square" lIns="0" tIns="0" rIns="0" bIns="0" rtlCol="0" anchor="t">
            <a:normAutofit/>
          </a:bodyPr>
          <a:lstStyle/>
          <a:p>
            <a:pPr marL="0" indent="0" algn="ctr">
              <a:lnSpc>
                <a:spcPct val="101000"/>
              </a:lnSpc>
              <a:buNone/>
            </a:pPr>
            <a:endParaRPr lang="en-US" sz="650" dirty="0"/>
          </a:p>
        </p:txBody>
      </p:sp>
      <p:sp>
        <p:nvSpPr>
          <p:cNvPr id="6" name="Shape 1">
            <a:extLst>
              <a:ext uri="{FF2B5EF4-FFF2-40B4-BE49-F238E27FC236}">
                <a16:creationId xmlns:a16="http://schemas.microsoft.com/office/drawing/2014/main" id="{4EFC8D91-613A-BDCF-0F13-358C61A3AEC2}"/>
              </a:ext>
            </a:extLst>
          </p:cNvPr>
          <p:cNvSpPr/>
          <p:nvPr/>
        </p:nvSpPr>
        <p:spPr>
          <a:xfrm>
            <a:off x="268370" y="851238"/>
            <a:ext cx="8584105" cy="4028075"/>
          </a:xfrm>
          <a:prstGeom prst="roundRect">
            <a:avLst>
              <a:gd name="adj" fmla="val 811"/>
            </a:avLst>
          </a:prstGeom>
          <a:solidFill>
            <a:srgbClr val="F9F6F0"/>
          </a:solidFill>
          <a:ln w="30480">
            <a:solidFill>
              <a:srgbClr val="D4CEC3"/>
            </a:solidFill>
            <a:prstDash val="solid"/>
          </a:ln>
        </p:spPr>
        <p:txBody>
          <a:bodyPr/>
          <a:lstStyle/>
          <a:p>
            <a:endParaRPr lang="en-IN" dirty="0"/>
          </a:p>
        </p:txBody>
      </p:sp>
      <p:sp>
        <p:nvSpPr>
          <p:cNvPr id="13" name="Text 0">
            <a:extLst>
              <a:ext uri="{FF2B5EF4-FFF2-40B4-BE49-F238E27FC236}">
                <a16:creationId xmlns:a16="http://schemas.microsoft.com/office/drawing/2014/main" id="{12996AD5-5399-6F7F-17F8-AFFCAAB2E5B6}"/>
              </a:ext>
            </a:extLst>
          </p:cNvPr>
          <p:cNvSpPr/>
          <p:nvPr/>
        </p:nvSpPr>
        <p:spPr>
          <a:xfrm>
            <a:off x="1986260" y="461442"/>
            <a:ext cx="4454575" cy="269900"/>
          </a:xfrm>
          <a:prstGeom prst="rect">
            <a:avLst/>
          </a:prstGeom>
          <a:noFill/>
          <a:ln/>
        </p:spPr>
        <p:txBody>
          <a:bodyPr wrap="none" lIns="0" tIns="0" rIns="0" bIns="0" rtlCol="0" anchor="t"/>
          <a:lstStyle/>
          <a:p>
            <a:pPr marL="0" indent="0" algn="ctr">
              <a:lnSpc>
                <a:spcPct val="104000"/>
              </a:lnSpc>
              <a:buNone/>
            </a:pPr>
            <a:r>
              <a:rPr lang="en-US" sz="2000" dirty="0">
                <a:solidFill>
                  <a:srgbClr val="2E3C4E"/>
                </a:solidFill>
                <a:latin typeface="Host Grotesk Medium" pitchFamily="34" charset="0"/>
                <a:ea typeface="Host Grotesk Medium" pitchFamily="34" charset="-122"/>
                <a:cs typeface="Host Grotesk Medium" pitchFamily="34" charset="-120"/>
              </a:rPr>
              <a:t> REFERENCES</a:t>
            </a:r>
            <a:endParaRPr lang="en-US" sz="2000" dirty="0"/>
          </a:p>
        </p:txBody>
      </p:sp>
      <p:sp>
        <p:nvSpPr>
          <p:cNvPr id="16" name="TextBox 15">
            <a:extLst>
              <a:ext uri="{FF2B5EF4-FFF2-40B4-BE49-F238E27FC236}">
                <a16:creationId xmlns:a16="http://schemas.microsoft.com/office/drawing/2014/main" id="{00D876B4-8C17-8709-79B2-B2CE5010711A}"/>
              </a:ext>
            </a:extLst>
          </p:cNvPr>
          <p:cNvSpPr txBox="1"/>
          <p:nvPr/>
        </p:nvSpPr>
        <p:spPr>
          <a:xfrm>
            <a:off x="378800" y="933643"/>
            <a:ext cx="3736781" cy="3600986"/>
          </a:xfrm>
          <a:prstGeom prst="rect">
            <a:avLst/>
          </a:prstGeom>
          <a:noFill/>
        </p:spPr>
        <p:txBody>
          <a:bodyPr wrap="square" rtlCol="0">
            <a:spAutoFit/>
          </a:bodyPr>
          <a:lstStyle/>
          <a:p>
            <a:r>
              <a:rPr lang="en-IN" sz="1200" dirty="0"/>
              <a:t>11. </a:t>
            </a:r>
            <a:r>
              <a:rPr lang="en-IN" sz="1200" b="1" dirty="0"/>
              <a:t>Pawar, K. S. et al.</a:t>
            </a:r>
            <a:r>
              <a:rPr lang="en-IN" sz="1200" dirty="0"/>
              <a:t>, "Design and development of an affordable mini quadcopter using ESP32", </a:t>
            </a:r>
            <a:r>
              <a:rPr lang="en-IN" sz="1200" i="1" dirty="0"/>
              <a:t>2026</a:t>
            </a:r>
            <a:r>
              <a:rPr lang="en-IN" sz="1200" dirty="0"/>
              <a:t>, pp. 45-51, DOI: 10.38124/</a:t>
            </a:r>
            <a:r>
              <a:rPr lang="en-IN" sz="1200" dirty="0" err="1"/>
              <a:t>ijisrt</a:t>
            </a:r>
            <a:r>
              <a:rPr lang="en-IN" sz="1200" dirty="0"/>
              <a:t>/26feb1337 </a:t>
            </a:r>
          </a:p>
          <a:p>
            <a:endParaRPr lang="en-IN" sz="1200" dirty="0"/>
          </a:p>
          <a:p>
            <a:r>
              <a:rPr lang="en-IN" sz="1200" dirty="0"/>
              <a:t>12. </a:t>
            </a:r>
            <a:r>
              <a:rPr lang="en-IN" sz="1200" b="1" dirty="0"/>
              <a:t>Rahat, A. M. et al.</a:t>
            </a:r>
            <a:r>
              <a:rPr lang="en-IN" sz="1200" dirty="0"/>
              <a:t>, "Development of a Low-Cost Surveillance Drone using ESP32-CAM", </a:t>
            </a:r>
            <a:r>
              <a:rPr lang="en-IN" sz="1200" i="1" dirty="0"/>
              <a:t>2021</a:t>
            </a:r>
            <a:r>
              <a:rPr lang="en-IN" sz="1200" dirty="0"/>
              <a:t>, pp. 45-51, DOI: 10.1109/IJRA.2021.90123 </a:t>
            </a:r>
          </a:p>
          <a:p>
            <a:endParaRPr lang="en-IN" sz="1200" dirty="0"/>
          </a:p>
          <a:p>
            <a:r>
              <a:rPr lang="en-IN" sz="1200" dirty="0"/>
              <a:t>13. </a:t>
            </a:r>
            <a:r>
              <a:rPr lang="en-IN" sz="1200" b="1" dirty="0"/>
              <a:t>Ramesh, S. et al.</a:t>
            </a:r>
            <a:r>
              <a:rPr lang="en-IN" sz="1200" dirty="0"/>
              <a:t>, "Implementation of Drone Using ESP-32 for IoT Applications", </a:t>
            </a:r>
            <a:r>
              <a:rPr lang="en-IN" sz="1200" i="1" dirty="0"/>
              <a:t>2021</a:t>
            </a:r>
            <a:r>
              <a:rPr lang="en-IN" sz="1200" dirty="0"/>
              <a:t>, pp. 19-21, DOI: 10.47893/IJDIM.2021.1121 </a:t>
            </a:r>
          </a:p>
          <a:p>
            <a:endParaRPr lang="en-IN" sz="1200" dirty="0"/>
          </a:p>
          <a:p>
            <a:r>
              <a:rPr lang="en-IN" sz="1200" dirty="0"/>
              <a:t>14. </a:t>
            </a:r>
            <a:r>
              <a:rPr lang="en-IN" sz="1200" b="1" dirty="0"/>
              <a:t>Ali, M. et al.</a:t>
            </a:r>
            <a:r>
              <a:rPr lang="en-IN" sz="1200" dirty="0"/>
              <a:t>, "Real-time edge inference on ESP32 for concrete structural health", </a:t>
            </a:r>
            <a:r>
              <a:rPr lang="en-IN" sz="1200" i="1" dirty="0"/>
              <a:t>2023</a:t>
            </a:r>
            <a:r>
              <a:rPr lang="en-IN" sz="1200" dirty="0"/>
              <a:t>, pp. 78-89, DOI: 10.1016/j.compind.2023.10321 </a:t>
            </a:r>
          </a:p>
          <a:p>
            <a:endParaRPr lang="en-IN" sz="1200" dirty="0"/>
          </a:p>
          <a:p>
            <a:r>
              <a:rPr lang="en-IN" sz="1200" dirty="0"/>
              <a:t>15. </a:t>
            </a:r>
            <a:r>
              <a:rPr lang="en-IN" sz="1200" b="1" dirty="0"/>
              <a:t>Martinez, E. et al.</a:t>
            </a:r>
            <a:r>
              <a:rPr lang="en-IN" sz="1200" dirty="0"/>
              <a:t>, "ESP32-CAM power consumption analysis in remote sensing UAVs", </a:t>
            </a:r>
            <a:r>
              <a:rPr lang="en-IN" sz="1200" i="1" dirty="0"/>
              <a:t>2023</a:t>
            </a:r>
            <a:r>
              <a:rPr lang="en-IN" sz="1200" dirty="0"/>
              <a:t>, pp. 110-119, DOI: 10.1109/JIOT.2023.324512</a:t>
            </a:r>
          </a:p>
        </p:txBody>
      </p:sp>
      <p:sp>
        <p:nvSpPr>
          <p:cNvPr id="18" name="TextBox 17">
            <a:extLst>
              <a:ext uri="{FF2B5EF4-FFF2-40B4-BE49-F238E27FC236}">
                <a16:creationId xmlns:a16="http://schemas.microsoft.com/office/drawing/2014/main" id="{83BAEF7F-9D4C-1309-BCC8-DDBD4F927C64}"/>
              </a:ext>
            </a:extLst>
          </p:cNvPr>
          <p:cNvSpPr txBox="1"/>
          <p:nvPr/>
        </p:nvSpPr>
        <p:spPr>
          <a:xfrm>
            <a:off x="4669495" y="990858"/>
            <a:ext cx="3736781" cy="3600986"/>
          </a:xfrm>
          <a:prstGeom prst="rect">
            <a:avLst/>
          </a:prstGeom>
          <a:noFill/>
        </p:spPr>
        <p:txBody>
          <a:bodyPr wrap="square" rtlCol="0">
            <a:spAutoFit/>
          </a:bodyPr>
          <a:lstStyle/>
          <a:p>
            <a:r>
              <a:rPr lang="en-IN" sz="1200" dirty="0"/>
              <a:t>16. </a:t>
            </a:r>
            <a:r>
              <a:rPr lang="en-IN" sz="1200" b="1" dirty="0"/>
              <a:t>Kim, D. et al.</a:t>
            </a:r>
            <a:r>
              <a:rPr lang="en-IN" sz="1200" dirty="0"/>
              <a:t>, "Aerodynamic design and CFD analysis of quadcopter camera mounts", </a:t>
            </a:r>
            <a:r>
              <a:rPr lang="en-IN" sz="1200" i="1" dirty="0"/>
              <a:t>2022</a:t>
            </a:r>
            <a:r>
              <a:rPr lang="en-IN" sz="1200" dirty="0"/>
              <a:t>, pp. 33-47, DOI: 10.2514/1.J060124 </a:t>
            </a:r>
          </a:p>
          <a:p>
            <a:endParaRPr lang="en-IN" sz="1200" dirty="0"/>
          </a:p>
          <a:p>
            <a:r>
              <a:rPr lang="en-IN" sz="1200" dirty="0"/>
              <a:t>17. </a:t>
            </a:r>
            <a:r>
              <a:rPr lang="en-IN" sz="1200" b="1" dirty="0"/>
              <a:t>Smith, J. &amp; Patel, R.</a:t>
            </a:r>
            <a:r>
              <a:rPr lang="en-IN" sz="1200" dirty="0"/>
              <a:t>, "Implementation of PID Control Algorithm for Quadcopter Stability under Payload", </a:t>
            </a:r>
            <a:r>
              <a:rPr lang="en-IN" sz="1200" i="1" dirty="0"/>
              <a:t>2019</a:t>
            </a:r>
            <a:r>
              <a:rPr lang="en-IN" sz="1200" dirty="0"/>
              <a:t>, pp. 12-19, DOI: 10.1109/IECON.2019.892711 </a:t>
            </a:r>
          </a:p>
          <a:p>
            <a:endParaRPr lang="en-IN" sz="1200" dirty="0"/>
          </a:p>
          <a:p>
            <a:r>
              <a:rPr lang="en-IN" sz="1200" dirty="0"/>
              <a:t>18. </a:t>
            </a:r>
            <a:r>
              <a:rPr lang="en-IN" sz="1200" b="1" dirty="0"/>
              <a:t>Liu, W. et al.</a:t>
            </a:r>
            <a:r>
              <a:rPr lang="en-IN" sz="1200" dirty="0"/>
              <a:t>, "Linear Active Disturbance Rejection Control for UAV stability in turbulent flows", </a:t>
            </a:r>
            <a:r>
              <a:rPr lang="en-IN" sz="1200" i="1" dirty="0"/>
              <a:t>2023</a:t>
            </a:r>
            <a:r>
              <a:rPr lang="en-IN" sz="1200" dirty="0"/>
              <a:t>, pp. 15-28, DOI: 10.1016/j.ast.2023.108233 </a:t>
            </a:r>
          </a:p>
          <a:p>
            <a:endParaRPr lang="en-IN" sz="1200" dirty="0"/>
          </a:p>
          <a:p>
            <a:r>
              <a:rPr lang="en-IN" sz="1200" dirty="0"/>
              <a:t>19. </a:t>
            </a:r>
            <a:r>
              <a:rPr lang="en-IN" sz="1200" b="1" dirty="0"/>
              <a:t>Kumar, P. &amp; Singh, A.</a:t>
            </a:r>
            <a:r>
              <a:rPr lang="en-IN" sz="1200" dirty="0"/>
              <a:t>, "Flight stabilization of quadcopters using ESP32 and MPU6050", </a:t>
            </a:r>
            <a:r>
              <a:rPr lang="en-IN" sz="1200" i="1" dirty="0"/>
              <a:t>2020</a:t>
            </a:r>
            <a:r>
              <a:rPr lang="en-IN" sz="1200" dirty="0"/>
              <a:t>, pp. 304-311, DOI: 10.1007/s11277-020-0711 </a:t>
            </a:r>
          </a:p>
          <a:p>
            <a:endParaRPr lang="en-IN" sz="1200" dirty="0"/>
          </a:p>
          <a:p>
            <a:r>
              <a:rPr lang="en-IN" sz="1200" dirty="0"/>
              <a:t>20. </a:t>
            </a:r>
            <a:r>
              <a:rPr lang="en-IN" sz="1200" b="1" dirty="0"/>
              <a:t>Patel, R. et al.</a:t>
            </a:r>
            <a:r>
              <a:rPr lang="en-IN" sz="1200" dirty="0"/>
              <a:t>, "PWM Control and ESC Interface optimization for customized UAV chassis", </a:t>
            </a:r>
            <a:r>
              <a:rPr lang="en-IN" sz="1200" i="1" dirty="0"/>
              <a:t>2022</a:t>
            </a:r>
            <a:r>
              <a:rPr lang="en-IN" sz="1200" dirty="0"/>
              <a:t>, pp. 56-64, DOI: 10.1016/j.robot.2022.01.005</a:t>
            </a:r>
          </a:p>
        </p:txBody>
      </p:sp>
    </p:spTree>
    <p:extLst>
      <p:ext uri="{BB962C8B-B14F-4D97-AF65-F5344CB8AC3E}">
        <p14:creationId xmlns:p14="http://schemas.microsoft.com/office/powerpoint/2010/main" val="3953108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14D82-6455-20C3-DF18-878823FE7377}"/>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4BD556A-7237-91DF-CC7D-991024C12A33}"/>
              </a:ext>
            </a:extLst>
          </p:cNvPr>
          <p:cNvPicPr>
            <a:picLocks noChangeAspect="1"/>
          </p:cNvPicPr>
          <p:nvPr/>
        </p:nvPicPr>
        <p:blipFill>
          <a:blip r:embed="rId3"/>
          <a:stretch>
            <a:fillRect/>
          </a:stretch>
        </p:blipFill>
        <p:spPr>
          <a:xfrm>
            <a:off x="465162" y="415379"/>
            <a:ext cx="1439763" cy="416421"/>
          </a:xfrm>
          <a:prstGeom prst="rect">
            <a:avLst/>
          </a:prstGeom>
        </p:spPr>
      </p:pic>
      <p:sp>
        <p:nvSpPr>
          <p:cNvPr id="3" name="Text 0">
            <a:extLst>
              <a:ext uri="{FF2B5EF4-FFF2-40B4-BE49-F238E27FC236}">
                <a16:creationId xmlns:a16="http://schemas.microsoft.com/office/drawing/2014/main" id="{41C86C2E-53D1-5D1A-0087-4A5AB6C7A481}"/>
              </a:ext>
            </a:extLst>
          </p:cNvPr>
          <p:cNvSpPr/>
          <p:nvPr/>
        </p:nvSpPr>
        <p:spPr>
          <a:xfrm>
            <a:off x="1010281" y="2595376"/>
            <a:ext cx="7123435" cy="269900"/>
          </a:xfrm>
          <a:prstGeom prst="rect">
            <a:avLst/>
          </a:prstGeom>
          <a:noFill/>
          <a:ln/>
        </p:spPr>
        <p:txBody>
          <a:bodyPr wrap="none" lIns="0" tIns="0" rIns="0" bIns="0" rtlCol="0" anchor="t"/>
          <a:lstStyle/>
          <a:p>
            <a:pPr marL="0" indent="0" algn="ctr">
              <a:lnSpc>
                <a:spcPct val="104000"/>
              </a:lnSpc>
              <a:buNone/>
            </a:pPr>
            <a:r>
              <a:rPr lang="en-US" sz="7200" dirty="0">
                <a:solidFill>
                  <a:srgbClr val="2E3C4E"/>
                </a:solidFill>
                <a:latin typeface="Host Grotesk Medium" pitchFamily="34" charset="0"/>
              </a:rPr>
              <a:t>THANK YOU</a:t>
            </a:r>
            <a:endParaRPr lang="en-US" sz="7200" dirty="0"/>
          </a:p>
        </p:txBody>
      </p:sp>
      <p:sp>
        <p:nvSpPr>
          <p:cNvPr id="4" name="Text 1">
            <a:extLst>
              <a:ext uri="{FF2B5EF4-FFF2-40B4-BE49-F238E27FC236}">
                <a16:creationId xmlns:a16="http://schemas.microsoft.com/office/drawing/2014/main" id="{2E6D58A1-441E-B2D6-9AA8-E83F00F371A9}"/>
              </a:ext>
            </a:extLst>
          </p:cNvPr>
          <p:cNvSpPr/>
          <p:nvPr/>
        </p:nvSpPr>
        <p:spPr>
          <a:xfrm>
            <a:off x="465162" y="1259607"/>
            <a:ext cx="8213675" cy="1411560"/>
          </a:xfrm>
          <a:prstGeom prst="rect">
            <a:avLst/>
          </a:prstGeom>
          <a:noFill/>
          <a:ln/>
        </p:spPr>
        <p:txBody>
          <a:bodyPr wrap="square" lIns="0" tIns="0" rIns="0" bIns="0" rtlCol="0" anchor="t"/>
          <a:lstStyle/>
          <a:p>
            <a:pPr marL="0" indent="0" algn="ctr">
              <a:lnSpc>
                <a:spcPct val="101000"/>
              </a:lnSpc>
              <a:spcAft>
                <a:spcPts val="450"/>
              </a:spcAft>
              <a:buNone/>
            </a:pPr>
            <a:endParaRPr lang="en-US" sz="650" dirty="0"/>
          </a:p>
        </p:txBody>
      </p:sp>
      <p:sp>
        <p:nvSpPr>
          <p:cNvPr id="5" name="Shape 2">
            <a:extLst>
              <a:ext uri="{FF2B5EF4-FFF2-40B4-BE49-F238E27FC236}">
                <a16:creationId xmlns:a16="http://schemas.microsoft.com/office/drawing/2014/main" id="{3EC7CE89-4EE4-BE5E-BF34-3E170C07BC93}"/>
              </a:ext>
            </a:extLst>
          </p:cNvPr>
          <p:cNvSpPr/>
          <p:nvPr/>
        </p:nvSpPr>
        <p:spPr>
          <a:xfrm>
            <a:off x="465162" y="2730326"/>
            <a:ext cx="8213675" cy="912986"/>
          </a:xfrm>
          <a:prstGeom prst="roundRect">
            <a:avLst>
              <a:gd name="adj" fmla="val 3974"/>
            </a:avLst>
          </a:prstGeom>
          <a:noFill/>
          <a:ln w="4763">
            <a:solidFill>
              <a:srgbClr val="000000">
                <a:alpha val="8000"/>
              </a:srgbClr>
            </a:solidFill>
            <a:prstDash val="solid"/>
          </a:ln>
        </p:spPr>
      </p:sp>
      <p:sp>
        <p:nvSpPr>
          <p:cNvPr id="11" name="Text 8">
            <a:extLst>
              <a:ext uri="{FF2B5EF4-FFF2-40B4-BE49-F238E27FC236}">
                <a16:creationId xmlns:a16="http://schemas.microsoft.com/office/drawing/2014/main" id="{5B8B82A5-4A9F-9694-3A0E-D20A0B1C4B82}"/>
              </a:ext>
            </a:extLst>
          </p:cNvPr>
          <p:cNvSpPr/>
          <p:nvPr/>
        </p:nvSpPr>
        <p:spPr>
          <a:xfrm>
            <a:off x="4660702" y="2953048"/>
            <a:ext cx="4384253"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14" name="Text 11">
            <a:extLst>
              <a:ext uri="{FF2B5EF4-FFF2-40B4-BE49-F238E27FC236}">
                <a16:creationId xmlns:a16="http://schemas.microsoft.com/office/drawing/2014/main" id="{1AD4C457-BFAD-139B-9B78-7965F138B746}"/>
              </a:ext>
            </a:extLst>
          </p:cNvPr>
          <p:cNvSpPr/>
          <p:nvPr/>
        </p:nvSpPr>
        <p:spPr>
          <a:xfrm>
            <a:off x="4660702" y="3134692"/>
            <a:ext cx="4384253"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17" name="Text 14">
            <a:extLst>
              <a:ext uri="{FF2B5EF4-FFF2-40B4-BE49-F238E27FC236}">
                <a16:creationId xmlns:a16="http://schemas.microsoft.com/office/drawing/2014/main" id="{AD137B32-DF31-1562-ECB2-C88AE7398785}"/>
              </a:ext>
            </a:extLst>
          </p:cNvPr>
          <p:cNvSpPr/>
          <p:nvPr/>
        </p:nvSpPr>
        <p:spPr>
          <a:xfrm>
            <a:off x="4660702" y="3316337"/>
            <a:ext cx="4384253" cy="104254"/>
          </a:xfrm>
          <a:prstGeom prst="rect">
            <a:avLst/>
          </a:prstGeom>
          <a:noFill/>
          <a:ln/>
        </p:spPr>
        <p:txBody>
          <a:bodyPr wrap="none" lIns="0" tIns="0" rIns="0" bIns="0" rtlCol="0" anchor="t"/>
          <a:lstStyle/>
          <a:p>
            <a:pPr marL="0" indent="0" algn="l">
              <a:lnSpc>
                <a:spcPct val="101000"/>
              </a:lnSpc>
              <a:buNone/>
            </a:pPr>
            <a:endParaRPr lang="en-US" sz="650" dirty="0"/>
          </a:p>
        </p:txBody>
      </p:sp>
      <p:sp>
        <p:nvSpPr>
          <p:cNvPr id="21" name="Text 18">
            <a:extLst>
              <a:ext uri="{FF2B5EF4-FFF2-40B4-BE49-F238E27FC236}">
                <a16:creationId xmlns:a16="http://schemas.microsoft.com/office/drawing/2014/main" id="{C98AC688-E9D4-AF59-4632-7CED83F38FF7}"/>
              </a:ext>
            </a:extLst>
          </p:cNvPr>
          <p:cNvSpPr/>
          <p:nvPr/>
        </p:nvSpPr>
        <p:spPr>
          <a:xfrm>
            <a:off x="465162" y="3702472"/>
            <a:ext cx="8213675" cy="1025575"/>
          </a:xfrm>
          <a:prstGeom prst="rect">
            <a:avLst/>
          </a:prstGeom>
          <a:noFill/>
          <a:ln/>
        </p:spPr>
        <p:txBody>
          <a:bodyPr wrap="square" lIns="0" tIns="0" rIns="0" bIns="0" rtlCol="0" anchor="t">
            <a:normAutofit/>
          </a:bodyPr>
          <a:lstStyle/>
          <a:p>
            <a:pPr marL="0" indent="0" algn="ctr">
              <a:lnSpc>
                <a:spcPct val="101000"/>
              </a:lnSpc>
              <a:buNone/>
            </a:pPr>
            <a:endParaRPr lang="en-US" sz="650" dirty="0"/>
          </a:p>
        </p:txBody>
      </p:sp>
    </p:spTree>
    <p:extLst>
      <p:ext uri="{BB962C8B-B14F-4D97-AF65-F5344CB8AC3E}">
        <p14:creationId xmlns:p14="http://schemas.microsoft.com/office/powerpoint/2010/main" val="20093878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TotalTime>
  <Words>2695</Words>
  <Application>Microsoft Office PowerPoint</Application>
  <PresentationFormat>On-screen Show (16:9)</PresentationFormat>
  <Paragraphs>221</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 Rounded MT Bold</vt:lpstr>
      <vt:lpstr>Host Grotesk Medium</vt:lpstr>
      <vt:lpstr>Roboto</vt:lpstr>
      <vt:lpstr>Arial</vt:lpstr>
      <vt:lpstr>Aptos Narrow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Utkarsh Goel</cp:lastModifiedBy>
  <cp:revision>7</cp:revision>
  <dcterms:created xsi:type="dcterms:W3CDTF">2026-05-21T04:01:24Z</dcterms:created>
  <dcterms:modified xsi:type="dcterms:W3CDTF">2026-06-13T14:01:38Z</dcterms:modified>
</cp:coreProperties>
</file>